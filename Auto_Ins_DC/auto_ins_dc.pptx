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2" r:id="rId3"/>
    <p:sldId id="279" r:id="rId4"/>
    <p:sldId id="281" r:id="rId5"/>
    <p:sldId id="259" r:id="rId6"/>
    <p:sldId id="289" r:id="rId7"/>
    <p:sldId id="277" r:id="rId8"/>
    <p:sldId id="262" r:id="rId9"/>
    <p:sldId id="263" r:id="rId10"/>
    <p:sldId id="265" r:id="rId11"/>
    <p:sldId id="267" r:id="rId12"/>
    <p:sldId id="270" r:id="rId13"/>
    <p:sldId id="283" r:id="rId14"/>
    <p:sldId id="284" r:id="rId15"/>
    <p:sldId id="274" r:id="rId16"/>
    <p:sldId id="269" r:id="rId17"/>
    <p:sldId id="271" r:id="rId18"/>
    <p:sldId id="288" r:id="rId19"/>
    <p:sldId id="2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60685" autoAdjust="0"/>
  </p:normalViewPr>
  <p:slideViewPr>
    <p:cSldViewPr snapToGrid="0">
      <p:cViewPr varScale="1">
        <p:scale>
          <a:sx n="60" d="100"/>
          <a:sy n="60" d="100"/>
        </p:scale>
        <p:origin x="268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8448A0-75F8-4060-A569-34988B1BA9D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96D621C-0224-432E-AA2D-A47ECDDAE898}">
      <dgm:prSet/>
      <dgm:spPr/>
      <dgm:t>
        <a:bodyPr/>
        <a:lstStyle/>
        <a:p>
          <a:r>
            <a:rPr lang="en-US"/>
            <a:t>Roadway exposure is positively associated with expected crash counts.  </a:t>
          </a:r>
        </a:p>
      </dgm:t>
    </dgm:pt>
    <dgm:pt modelId="{B5FAE2CE-1D51-4C7C-AAE5-B27A5A9F963B}" type="parTrans" cxnId="{A91AC525-9EF4-44A4-8FBC-950DB9830603}">
      <dgm:prSet/>
      <dgm:spPr/>
      <dgm:t>
        <a:bodyPr/>
        <a:lstStyle/>
        <a:p>
          <a:endParaRPr lang="en-US"/>
        </a:p>
      </dgm:t>
    </dgm:pt>
    <dgm:pt modelId="{CBCBE469-11A5-43BA-B362-6FE9CE26ED01}" type="sibTrans" cxnId="{A91AC525-9EF4-44A4-8FBC-950DB9830603}">
      <dgm:prSet/>
      <dgm:spPr/>
      <dgm:t>
        <a:bodyPr/>
        <a:lstStyle/>
        <a:p>
          <a:endParaRPr lang="en-US"/>
        </a:p>
      </dgm:t>
    </dgm:pt>
    <dgm:pt modelId="{82585240-1EED-4333-BCA9-6F0C5AC31B0B}">
      <dgm:prSet/>
      <dgm:spPr/>
      <dgm:t>
        <a:bodyPr/>
        <a:lstStyle/>
        <a:p>
          <a:r>
            <a:rPr lang="en-US" dirty="0"/>
            <a:t>Higher Black population share is also associated with higher expected crash counts after controlling for roadway exposure.</a:t>
          </a:r>
        </a:p>
      </dgm:t>
    </dgm:pt>
    <dgm:pt modelId="{EBA66360-6F2D-441F-A2E3-6F6F6D9A48CD}" type="parTrans" cxnId="{A421481F-D81B-49C9-9291-42DF6BAF03F9}">
      <dgm:prSet/>
      <dgm:spPr/>
      <dgm:t>
        <a:bodyPr/>
        <a:lstStyle/>
        <a:p>
          <a:endParaRPr lang="en-US"/>
        </a:p>
      </dgm:t>
    </dgm:pt>
    <dgm:pt modelId="{BBE219E7-A072-41A2-A4DA-1B8A1CE729B1}" type="sibTrans" cxnId="{A421481F-D81B-49C9-9291-42DF6BAF03F9}">
      <dgm:prSet/>
      <dgm:spPr/>
      <dgm:t>
        <a:bodyPr/>
        <a:lstStyle/>
        <a:p>
          <a:endParaRPr lang="en-US"/>
        </a:p>
      </dgm:t>
    </dgm:pt>
    <dgm:pt modelId="{0D09D293-5C1D-403C-87B5-0D13A7536388}">
      <dgm:prSet/>
      <dgm:spPr/>
      <dgm:t>
        <a:bodyPr/>
        <a:lstStyle/>
        <a:p>
          <a:r>
            <a:rPr lang="en-US" dirty="0"/>
            <a:t>Hispanic population share is not statistically significant in the main model. No strong evidence that roadway exposure has an additional amplified effect by Black or Hispanic share.</a:t>
          </a:r>
        </a:p>
      </dgm:t>
    </dgm:pt>
    <dgm:pt modelId="{056B825A-5AE1-4211-ABC6-DB2EE569F320}" type="parTrans" cxnId="{944F6E1F-CA85-48C5-A96E-F9A2AE0C06DF}">
      <dgm:prSet/>
      <dgm:spPr/>
      <dgm:t>
        <a:bodyPr/>
        <a:lstStyle/>
        <a:p>
          <a:endParaRPr lang="en-US"/>
        </a:p>
      </dgm:t>
    </dgm:pt>
    <dgm:pt modelId="{6010E163-0FED-48D4-B503-179C4020C6FB}" type="sibTrans" cxnId="{944F6E1F-CA85-48C5-A96E-F9A2AE0C06DF}">
      <dgm:prSet/>
      <dgm:spPr/>
      <dgm:t>
        <a:bodyPr/>
        <a:lstStyle/>
        <a:p>
          <a:endParaRPr lang="en-US"/>
        </a:p>
      </dgm:t>
    </dgm:pt>
    <dgm:pt modelId="{7BA53E43-BA73-0248-B576-FD82D3208C28}" type="pres">
      <dgm:prSet presAssocID="{228448A0-75F8-4060-A569-34988B1BA9DF}" presName="hierChild1" presStyleCnt="0">
        <dgm:presLayoutVars>
          <dgm:chPref val="1"/>
          <dgm:dir/>
          <dgm:animOne val="branch"/>
          <dgm:animLvl val="lvl"/>
          <dgm:resizeHandles/>
        </dgm:presLayoutVars>
      </dgm:prSet>
      <dgm:spPr/>
    </dgm:pt>
    <dgm:pt modelId="{65670C0C-A8B4-CA40-823E-A9AAEC82F933}" type="pres">
      <dgm:prSet presAssocID="{796D621C-0224-432E-AA2D-A47ECDDAE898}" presName="hierRoot1" presStyleCnt="0"/>
      <dgm:spPr/>
    </dgm:pt>
    <dgm:pt modelId="{0303C4C6-54AF-024C-A209-894295ABDE32}" type="pres">
      <dgm:prSet presAssocID="{796D621C-0224-432E-AA2D-A47ECDDAE898}" presName="composite" presStyleCnt="0"/>
      <dgm:spPr/>
    </dgm:pt>
    <dgm:pt modelId="{9FF9060D-E924-4647-8269-C107F9B6BB4F}" type="pres">
      <dgm:prSet presAssocID="{796D621C-0224-432E-AA2D-A47ECDDAE898}" presName="background" presStyleLbl="node0" presStyleIdx="0" presStyleCnt="3"/>
      <dgm:spPr>
        <a:solidFill>
          <a:schemeClr val="accent1">
            <a:lumMod val="75000"/>
            <a:alpha val="90000"/>
          </a:schemeClr>
        </a:solidFill>
      </dgm:spPr>
    </dgm:pt>
    <dgm:pt modelId="{CFDE1B50-F522-244B-867E-60CFC7936390}" type="pres">
      <dgm:prSet presAssocID="{796D621C-0224-432E-AA2D-A47ECDDAE898}" presName="text" presStyleLbl="fgAcc0" presStyleIdx="0" presStyleCnt="3">
        <dgm:presLayoutVars>
          <dgm:chPref val="3"/>
        </dgm:presLayoutVars>
      </dgm:prSet>
      <dgm:spPr/>
    </dgm:pt>
    <dgm:pt modelId="{07750C39-B84C-7942-8332-7B5A663F7EFB}" type="pres">
      <dgm:prSet presAssocID="{796D621C-0224-432E-AA2D-A47ECDDAE898}" presName="hierChild2" presStyleCnt="0"/>
      <dgm:spPr/>
    </dgm:pt>
    <dgm:pt modelId="{2CF52D76-3B28-6842-BD36-98B9183C78AD}" type="pres">
      <dgm:prSet presAssocID="{82585240-1EED-4333-BCA9-6F0C5AC31B0B}" presName="hierRoot1" presStyleCnt="0"/>
      <dgm:spPr/>
    </dgm:pt>
    <dgm:pt modelId="{7CBE6EB7-C36E-E145-AE59-89AC3FA0ECD5}" type="pres">
      <dgm:prSet presAssocID="{82585240-1EED-4333-BCA9-6F0C5AC31B0B}" presName="composite" presStyleCnt="0"/>
      <dgm:spPr/>
    </dgm:pt>
    <dgm:pt modelId="{83A5950F-C68D-2D4E-A08B-92DDFFECE1E0}" type="pres">
      <dgm:prSet presAssocID="{82585240-1EED-4333-BCA9-6F0C5AC31B0B}" presName="background" presStyleLbl="node0" presStyleIdx="1" presStyleCnt="3"/>
      <dgm:spPr>
        <a:solidFill>
          <a:schemeClr val="accent1">
            <a:lumMod val="75000"/>
            <a:alpha val="90000"/>
          </a:schemeClr>
        </a:solidFill>
      </dgm:spPr>
    </dgm:pt>
    <dgm:pt modelId="{6548AF0D-0B34-2240-A821-1C426A1D30B6}" type="pres">
      <dgm:prSet presAssocID="{82585240-1EED-4333-BCA9-6F0C5AC31B0B}" presName="text" presStyleLbl="fgAcc0" presStyleIdx="1" presStyleCnt="3">
        <dgm:presLayoutVars>
          <dgm:chPref val="3"/>
        </dgm:presLayoutVars>
      </dgm:prSet>
      <dgm:spPr/>
    </dgm:pt>
    <dgm:pt modelId="{2D27E53C-0E1B-5A4D-8BEB-CE27A0F33C60}" type="pres">
      <dgm:prSet presAssocID="{82585240-1EED-4333-BCA9-6F0C5AC31B0B}" presName="hierChild2" presStyleCnt="0"/>
      <dgm:spPr/>
    </dgm:pt>
    <dgm:pt modelId="{7832AF87-E891-5C4D-8372-4209BE37CCE1}" type="pres">
      <dgm:prSet presAssocID="{0D09D293-5C1D-403C-87B5-0D13A7536388}" presName="hierRoot1" presStyleCnt="0"/>
      <dgm:spPr/>
    </dgm:pt>
    <dgm:pt modelId="{D945009D-3685-2A41-AF46-E6928A9F5C70}" type="pres">
      <dgm:prSet presAssocID="{0D09D293-5C1D-403C-87B5-0D13A7536388}" presName="composite" presStyleCnt="0"/>
      <dgm:spPr/>
    </dgm:pt>
    <dgm:pt modelId="{2F789E69-11D0-0049-92EB-76C9F93C37A5}" type="pres">
      <dgm:prSet presAssocID="{0D09D293-5C1D-403C-87B5-0D13A7536388}" presName="background" presStyleLbl="node0" presStyleIdx="2" presStyleCnt="3"/>
      <dgm:spPr>
        <a:solidFill>
          <a:schemeClr val="accent1">
            <a:lumMod val="75000"/>
            <a:alpha val="90000"/>
          </a:schemeClr>
        </a:solidFill>
      </dgm:spPr>
    </dgm:pt>
    <dgm:pt modelId="{E5D7AFBD-925F-114E-B2F2-E324E5BB7EC0}" type="pres">
      <dgm:prSet presAssocID="{0D09D293-5C1D-403C-87B5-0D13A7536388}" presName="text" presStyleLbl="fgAcc0" presStyleIdx="2" presStyleCnt="3">
        <dgm:presLayoutVars>
          <dgm:chPref val="3"/>
        </dgm:presLayoutVars>
      </dgm:prSet>
      <dgm:spPr/>
    </dgm:pt>
    <dgm:pt modelId="{5FEBBA9B-E674-934F-BF30-E45C149018B7}" type="pres">
      <dgm:prSet presAssocID="{0D09D293-5C1D-403C-87B5-0D13A7536388}" presName="hierChild2" presStyleCnt="0"/>
      <dgm:spPr/>
    </dgm:pt>
  </dgm:ptLst>
  <dgm:cxnLst>
    <dgm:cxn modelId="{A421481F-D81B-49C9-9291-42DF6BAF03F9}" srcId="{228448A0-75F8-4060-A569-34988B1BA9DF}" destId="{82585240-1EED-4333-BCA9-6F0C5AC31B0B}" srcOrd="1" destOrd="0" parTransId="{EBA66360-6F2D-441F-A2E3-6F6F6D9A48CD}" sibTransId="{BBE219E7-A072-41A2-A4DA-1B8A1CE729B1}"/>
    <dgm:cxn modelId="{944F6E1F-CA85-48C5-A96E-F9A2AE0C06DF}" srcId="{228448A0-75F8-4060-A569-34988B1BA9DF}" destId="{0D09D293-5C1D-403C-87B5-0D13A7536388}" srcOrd="2" destOrd="0" parTransId="{056B825A-5AE1-4211-ABC6-DB2EE569F320}" sibTransId="{6010E163-0FED-48D4-B503-179C4020C6FB}"/>
    <dgm:cxn modelId="{A91AC525-9EF4-44A4-8FBC-950DB9830603}" srcId="{228448A0-75F8-4060-A569-34988B1BA9DF}" destId="{796D621C-0224-432E-AA2D-A47ECDDAE898}" srcOrd="0" destOrd="0" parTransId="{B5FAE2CE-1D51-4C7C-AAE5-B27A5A9F963B}" sibTransId="{CBCBE469-11A5-43BA-B362-6FE9CE26ED01}"/>
    <dgm:cxn modelId="{AC03DA80-AF12-7B47-8B80-522140CF7E09}" type="presOf" srcId="{796D621C-0224-432E-AA2D-A47ECDDAE898}" destId="{CFDE1B50-F522-244B-867E-60CFC7936390}" srcOrd="0" destOrd="0" presId="urn:microsoft.com/office/officeart/2005/8/layout/hierarchy1"/>
    <dgm:cxn modelId="{1FC1818B-D4CF-9245-86C0-4C267F8121AF}" type="presOf" srcId="{82585240-1EED-4333-BCA9-6F0C5AC31B0B}" destId="{6548AF0D-0B34-2240-A821-1C426A1D30B6}" srcOrd="0" destOrd="0" presId="urn:microsoft.com/office/officeart/2005/8/layout/hierarchy1"/>
    <dgm:cxn modelId="{184322CD-20A6-9C43-9F91-97C8498F836E}" type="presOf" srcId="{0D09D293-5C1D-403C-87B5-0D13A7536388}" destId="{E5D7AFBD-925F-114E-B2F2-E324E5BB7EC0}" srcOrd="0" destOrd="0" presId="urn:microsoft.com/office/officeart/2005/8/layout/hierarchy1"/>
    <dgm:cxn modelId="{E91436D9-DCDE-FA45-BDB4-3C5B3B9D3325}" type="presOf" srcId="{228448A0-75F8-4060-A569-34988B1BA9DF}" destId="{7BA53E43-BA73-0248-B576-FD82D3208C28}" srcOrd="0" destOrd="0" presId="urn:microsoft.com/office/officeart/2005/8/layout/hierarchy1"/>
    <dgm:cxn modelId="{DDB3D3FD-1986-3F4B-8D9E-C662309DDDCF}" type="presParOf" srcId="{7BA53E43-BA73-0248-B576-FD82D3208C28}" destId="{65670C0C-A8B4-CA40-823E-A9AAEC82F933}" srcOrd="0" destOrd="0" presId="urn:microsoft.com/office/officeart/2005/8/layout/hierarchy1"/>
    <dgm:cxn modelId="{8FACC05E-7DEB-564F-A117-62EA9F6E6386}" type="presParOf" srcId="{65670C0C-A8B4-CA40-823E-A9AAEC82F933}" destId="{0303C4C6-54AF-024C-A209-894295ABDE32}" srcOrd="0" destOrd="0" presId="urn:microsoft.com/office/officeart/2005/8/layout/hierarchy1"/>
    <dgm:cxn modelId="{E011EFC5-575B-7541-AA95-B41BFD35725E}" type="presParOf" srcId="{0303C4C6-54AF-024C-A209-894295ABDE32}" destId="{9FF9060D-E924-4647-8269-C107F9B6BB4F}" srcOrd="0" destOrd="0" presId="urn:microsoft.com/office/officeart/2005/8/layout/hierarchy1"/>
    <dgm:cxn modelId="{D53835AE-18F4-D84E-8803-8B7B8CB1D8AB}" type="presParOf" srcId="{0303C4C6-54AF-024C-A209-894295ABDE32}" destId="{CFDE1B50-F522-244B-867E-60CFC7936390}" srcOrd="1" destOrd="0" presId="urn:microsoft.com/office/officeart/2005/8/layout/hierarchy1"/>
    <dgm:cxn modelId="{FBAF38E4-5DAE-C246-A16A-FC0B4BEE572C}" type="presParOf" srcId="{65670C0C-A8B4-CA40-823E-A9AAEC82F933}" destId="{07750C39-B84C-7942-8332-7B5A663F7EFB}" srcOrd="1" destOrd="0" presId="urn:microsoft.com/office/officeart/2005/8/layout/hierarchy1"/>
    <dgm:cxn modelId="{0DD483B9-66FC-2E40-9051-3D8905DB251D}" type="presParOf" srcId="{7BA53E43-BA73-0248-B576-FD82D3208C28}" destId="{2CF52D76-3B28-6842-BD36-98B9183C78AD}" srcOrd="1" destOrd="0" presId="urn:microsoft.com/office/officeart/2005/8/layout/hierarchy1"/>
    <dgm:cxn modelId="{95428C56-9BC6-9149-B103-5E916C99C647}" type="presParOf" srcId="{2CF52D76-3B28-6842-BD36-98B9183C78AD}" destId="{7CBE6EB7-C36E-E145-AE59-89AC3FA0ECD5}" srcOrd="0" destOrd="0" presId="urn:microsoft.com/office/officeart/2005/8/layout/hierarchy1"/>
    <dgm:cxn modelId="{46788B08-5B93-3A4C-8A7F-B436A2CF0B18}" type="presParOf" srcId="{7CBE6EB7-C36E-E145-AE59-89AC3FA0ECD5}" destId="{83A5950F-C68D-2D4E-A08B-92DDFFECE1E0}" srcOrd="0" destOrd="0" presId="urn:microsoft.com/office/officeart/2005/8/layout/hierarchy1"/>
    <dgm:cxn modelId="{3967C2D2-4269-2E48-815F-65CD9ECF1F15}" type="presParOf" srcId="{7CBE6EB7-C36E-E145-AE59-89AC3FA0ECD5}" destId="{6548AF0D-0B34-2240-A821-1C426A1D30B6}" srcOrd="1" destOrd="0" presId="urn:microsoft.com/office/officeart/2005/8/layout/hierarchy1"/>
    <dgm:cxn modelId="{3EDB9DAC-BE0D-AD4C-AFF4-CE53CA8322DB}" type="presParOf" srcId="{2CF52D76-3B28-6842-BD36-98B9183C78AD}" destId="{2D27E53C-0E1B-5A4D-8BEB-CE27A0F33C60}" srcOrd="1" destOrd="0" presId="urn:microsoft.com/office/officeart/2005/8/layout/hierarchy1"/>
    <dgm:cxn modelId="{497132F7-05C2-1047-BDF0-FB2C79643C24}" type="presParOf" srcId="{7BA53E43-BA73-0248-B576-FD82D3208C28}" destId="{7832AF87-E891-5C4D-8372-4209BE37CCE1}" srcOrd="2" destOrd="0" presId="urn:microsoft.com/office/officeart/2005/8/layout/hierarchy1"/>
    <dgm:cxn modelId="{2FF35FBB-38E3-034A-8686-5720674B7352}" type="presParOf" srcId="{7832AF87-E891-5C4D-8372-4209BE37CCE1}" destId="{D945009D-3685-2A41-AF46-E6928A9F5C70}" srcOrd="0" destOrd="0" presId="urn:microsoft.com/office/officeart/2005/8/layout/hierarchy1"/>
    <dgm:cxn modelId="{FCD4B897-657E-464B-AE94-3EE188364819}" type="presParOf" srcId="{D945009D-3685-2A41-AF46-E6928A9F5C70}" destId="{2F789E69-11D0-0049-92EB-76C9F93C37A5}" srcOrd="0" destOrd="0" presId="urn:microsoft.com/office/officeart/2005/8/layout/hierarchy1"/>
    <dgm:cxn modelId="{A3123A08-EDEB-794B-ACC4-1E9537ED9A51}" type="presParOf" srcId="{D945009D-3685-2A41-AF46-E6928A9F5C70}" destId="{E5D7AFBD-925F-114E-B2F2-E324E5BB7EC0}" srcOrd="1" destOrd="0" presId="urn:microsoft.com/office/officeart/2005/8/layout/hierarchy1"/>
    <dgm:cxn modelId="{BA38BA99-2F9A-3D4E-B083-6614D3FAFF88}" type="presParOf" srcId="{7832AF87-E891-5C4D-8372-4209BE37CCE1}" destId="{5FEBBA9B-E674-934F-BF30-E45C149018B7}"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92DD51-06EF-4946-BC83-BA5BFB90A576}"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23F16039-BA27-44E2-9A23-50E7C4F33F51}">
      <dgm:prSet/>
      <dgm:spPr/>
      <dgm:t>
        <a:bodyPr/>
        <a:lstStyle/>
        <a:p>
          <a:r>
            <a:rPr lang="en-US" b="1" dirty="0"/>
            <a:t>Key variables</a:t>
          </a:r>
          <a:r>
            <a:rPr lang="en-US" dirty="0"/>
            <a:t>: crash density, road density, signal density, intersection density, a roadway exposure index, and Black / Hispanic population share </a:t>
          </a:r>
        </a:p>
      </dgm:t>
    </dgm:pt>
    <dgm:pt modelId="{5E531A4C-E7F7-4485-9D6C-113E922CD2AC}" type="parTrans" cxnId="{C8FB8558-3BF9-4FDD-9045-D43DDC8C11F8}">
      <dgm:prSet/>
      <dgm:spPr/>
      <dgm:t>
        <a:bodyPr/>
        <a:lstStyle/>
        <a:p>
          <a:endParaRPr lang="en-US"/>
        </a:p>
      </dgm:t>
    </dgm:pt>
    <dgm:pt modelId="{CCF6F25C-B2B5-4787-8409-E7D7145BBDEC}" type="sibTrans" cxnId="{C8FB8558-3BF9-4FDD-9045-D43DDC8C11F8}">
      <dgm:prSet/>
      <dgm:spPr/>
      <dgm:t>
        <a:bodyPr/>
        <a:lstStyle/>
        <a:p>
          <a:endParaRPr lang="en-US"/>
        </a:p>
      </dgm:t>
    </dgm:pt>
    <dgm:pt modelId="{B28DF693-7676-43AF-8D23-FFE98DA92FD9}">
      <dgm:prSet/>
      <dgm:spPr/>
      <dgm:t>
        <a:bodyPr/>
        <a:lstStyle/>
        <a:p>
          <a:r>
            <a:rPr lang="en-US" dirty="0"/>
            <a:t>Although the panel includes many roadway attributes, the regression uses a smaller theory-driven set of predictors to avoid data leakage, multicollinearity, and overfitting.</a:t>
          </a:r>
        </a:p>
      </dgm:t>
    </dgm:pt>
    <dgm:pt modelId="{BD7CF33C-F76E-4594-AAA5-354238FFA581}" type="parTrans" cxnId="{0F05BAB2-1BB4-4C16-A6F3-DE55B2EA4A57}">
      <dgm:prSet/>
      <dgm:spPr/>
      <dgm:t>
        <a:bodyPr/>
        <a:lstStyle/>
        <a:p>
          <a:endParaRPr lang="en-US"/>
        </a:p>
      </dgm:t>
    </dgm:pt>
    <dgm:pt modelId="{8386D647-31F3-4942-85F8-C3C29173AC9E}" type="sibTrans" cxnId="{0F05BAB2-1BB4-4C16-A6F3-DE55B2EA4A57}">
      <dgm:prSet/>
      <dgm:spPr/>
      <dgm:t>
        <a:bodyPr/>
        <a:lstStyle/>
        <a:p>
          <a:endParaRPr lang="en-US"/>
        </a:p>
      </dgm:t>
    </dgm:pt>
    <dgm:pt modelId="{74879243-0ACF-C04E-A1B3-4D8AB13C4344}" type="pres">
      <dgm:prSet presAssocID="{F392DD51-06EF-4946-BC83-BA5BFB90A576}" presName="hierChild1" presStyleCnt="0">
        <dgm:presLayoutVars>
          <dgm:chPref val="1"/>
          <dgm:dir/>
          <dgm:animOne val="branch"/>
          <dgm:animLvl val="lvl"/>
          <dgm:resizeHandles/>
        </dgm:presLayoutVars>
      </dgm:prSet>
      <dgm:spPr/>
    </dgm:pt>
    <dgm:pt modelId="{B5381D98-4AF9-8143-9CEF-F980A40C021A}" type="pres">
      <dgm:prSet presAssocID="{23F16039-BA27-44E2-9A23-50E7C4F33F51}" presName="hierRoot1" presStyleCnt="0"/>
      <dgm:spPr/>
    </dgm:pt>
    <dgm:pt modelId="{B810B4F1-237A-2442-8088-E7EFBCD4A270}" type="pres">
      <dgm:prSet presAssocID="{23F16039-BA27-44E2-9A23-50E7C4F33F51}" presName="composite" presStyleCnt="0"/>
      <dgm:spPr/>
    </dgm:pt>
    <dgm:pt modelId="{9B15D3CF-D10A-AA46-A973-E6CFC51ACFA5}" type="pres">
      <dgm:prSet presAssocID="{23F16039-BA27-44E2-9A23-50E7C4F33F51}" presName="background" presStyleLbl="node0" presStyleIdx="0" presStyleCnt="2"/>
      <dgm:spPr>
        <a:solidFill>
          <a:schemeClr val="accent1">
            <a:lumMod val="75000"/>
            <a:alpha val="90000"/>
          </a:schemeClr>
        </a:solidFill>
      </dgm:spPr>
    </dgm:pt>
    <dgm:pt modelId="{A0285916-AA07-844D-BB35-C1E7F103F24D}" type="pres">
      <dgm:prSet presAssocID="{23F16039-BA27-44E2-9A23-50E7C4F33F51}" presName="text" presStyleLbl="fgAcc0" presStyleIdx="0" presStyleCnt="2">
        <dgm:presLayoutVars>
          <dgm:chPref val="3"/>
        </dgm:presLayoutVars>
      </dgm:prSet>
      <dgm:spPr/>
    </dgm:pt>
    <dgm:pt modelId="{ECC82442-F4A5-274F-AB33-093D7082AA49}" type="pres">
      <dgm:prSet presAssocID="{23F16039-BA27-44E2-9A23-50E7C4F33F51}" presName="hierChild2" presStyleCnt="0"/>
      <dgm:spPr/>
    </dgm:pt>
    <dgm:pt modelId="{508EADCC-6967-4D47-9F27-8D1F05FC6F8B}" type="pres">
      <dgm:prSet presAssocID="{B28DF693-7676-43AF-8D23-FFE98DA92FD9}" presName="hierRoot1" presStyleCnt="0"/>
      <dgm:spPr/>
    </dgm:pt>
    <dgm:pt modelId="{65659505-478B-8940-9FC8-BC4BAF143872}" type="pres">
      <dgm:prSet presAssocID="{B28DF693-7676-43AF-8D23-FFE98DA92FD9}" presName="composite" presStyleCnt="0"/>
      <dgm:spPr/>
    </dgm:pt>
    <dgm:pt modelId="{64B4EC76-8996-6D4E-A844-DDC335AE1A17}" type="pres">
      <dgm:prSet presAssocID="{B28DF693-7676-43AF-8D23-FFE98DA92FD9}" presName="background" presStyleLbl="node0" presStyleIdx="1" presStyleCnt="2"/>
      <dgm:spPr>
        <a:solidFill>
          <a:schemeClr val="accent1">
            <a:lumMod val="75000"/>
            <a:alpha val="90000"/>
          </a:schemeClr>
        </a:solidFill>
      </dgm:spPr>
    </dgm:pt>
    <dgm:pt modelId="{A408EFD9-9606-154A-9038-F417C872F6CB}" type="pres">
      <dgm:prSet presAssocID="{B28DF693-7676-43AF-8D23-FFE98DA92FD9}" presName="text" presStyleLbl="fgAcc0" presStyleIdx="1" presStyleCnt="2">
        <dgm:presLayoutVars>
          <dgm:chPref val="3"/>
        </dgm:presLayoutVars>
      </dgm:prSet>
      <dgm:spPr/>
    </dgm:pt>
    <dgm:pt modelId="{7AD52DBE-1681-7E40-B398-148454931204}" type="pres">
      <dgm:prSet presAssocID="{B28DF693-7676-43AF-8D23-FFE98DA92FD9}" presName="hierChild2" presStyleCnt="0"/>
      <dgm:spPr/>
    </dgm:pt>
  </dgm:ptLst>
  <dgm:cxnLst>
    <dgm:cxn modelId="{C8FB8558-3BF9-4FDD-9045-D43DDC8C11F8}" srcId="{F392DD51-06EF-4946-BC83-BA5BFB90A576}" destId="{23F16039-BA27-44E2-9A23-50E7C4F33F51}" srcOrd="0" destOrd="0" parTransId="{5E531A4C-E7F7-4485-9D6C-113E922CD2AC}" sibTransId="{CCF6F25C-B2B5-4787-8409-E7D7145BBDEC}"/>
    <dgm:cxn modelId="{F4C0BD7D-969E-B94E-89D1-9651660C906D}" type="presOf" srcId="{B28DF693-7676-43AF-8D23-FFE98DA92FD9}" destId="{A408EFD9-9606-154A-9038-F417C872F6CB}" srcOrd="0" destOrd="0" presId="urn:microsoft.com/office/officeart/2005/8/layout/hierarchy1"/>
    <dgm:cxn modelId="{0F05BAB2-1BB4-4C16-A6F3-DE55B2EA4A57}" srcId="{F392DD51-06EF-4946-BC83-BA5BFB90A576}" destId="{B28DF693-7676-43AF-8D23-FFE98DA92FD9}" srcOrd="1" destOrd="0" parTransId="{BD7CF33C-F76E-4594-AAA5-354238FFA581}" sibTransId="{8386D647-31F3-4942-85F8-C3C29173AC9E}"/>
    <dgm:cxn modelId="{465846C5-2F3C-5F41-B55F-32901896A0FC}" type="presOf" srcId="{F392DD51-06EF-4946-BC83-BA5BFB90A576}" destId="{74879243-0ACF-C04E-A1B3-4D8AB13C4344}" srcOrd="0" destOrd="0" presId="urn:microsoft.com/office/officeart/2005/8/layout/hierarchy1"/>
    <dgm:cxn modelId="{2FC7F3C5-A47A-3549-8F98-A26F92F24F3B}" type="presOf" srcId="{23F16039-BA27-44E2-9A23-50E7C4F33F51}" destId="{A0285916-AA07-844D-BB35-C1E7F103F24D}" srcOrd="0" destOrd="0" presId="urn:microsoft.com/office/officeart/2005/8/layout/hierarchy1"/>
    <dgm:cxn modelId="{007D7679-EF0F-4E45-9D07-C03015018F72}" type="presParOf" srcId="{74879243-0ACF-C04E-A1B3-4D8AB13C4344}" destId="{B5381D98-4AF9-8143-9CEF-F980A40C021A}" srcOrd="0" destOrd="0" presId="urn:microsoft.com/office/officeart/2005/8/layout/hierarchy1"/>
    <dgm:cxn modelId="{06FA35DB-809F-AB4C-81DC-084CD3A0E9C9}" type="presParOf" srcId="{B5381D98-4AF9-8143-9CEF-F980A40C021A}" destId="{B810B4F1-237A-2442-8088-E7EFBCD4A270}" srcOrd="0" destOrd="0" presId="urn:microsoft.com/office/officeart/2005/8/layout/hierarchy1"/>
    <dgm:cxn modelId="{77F35D43-4382-C241-AF48-424043AF0633}" type="presParOf" srcId="{B810B4F1-237A-2442-8088-E7EFBCD4A270}" destId="{9B15D3CF-D10A-AA46-A973-E6CFC51ACFA5}" srcOrd="0" destOrd="0" presId="urn:microsoft.com/office/officeart/2005/8/layout/hierarchy1"/>
    <dgm:cxn modelId="{FA60B073-6947-9D4D-981B-805F74D8042A}" type="presParOf" srcId="{B810B4F1-237A-2442-8088-E7EFBCD4A270}" destId="{A0285916-AA07-844D-BB35-C1E7F103F24D}" srcOrd="1" destOrd="0" presId="urn:microsoft.com/office/officeart/2005/8/layout/hierarchy1"/>
    <dgm:cxn modelId="{FCAC4CFA-4B08-E243-8391-5ED081529E39}" type="presParOf" srcId="{B5381D98-4AF9-8143-9CEF-F980A40C021A}" destId="{ECC82442-F4A5-274F-AB33-093D7082AA49}" srcOrd="1" destOrd="0" presId="urn:microsoft.com/office/officeart/2005/8/layout/hierarchy1"/>
    <dgm:cxn modelId="{6DB8B9BC-F052-D644-8786-CE5A43C91DDD}" type="presParOf" srcId="{74879243-0ACF-C04E-A1B3-4D8AB13C4344}" destId="{508EADCC-6967-4D47-9F27-8D1F05FC6F8B}" srcOrd="1" destOrd="0" presId="urn:microsoft.com/office/officeart/2005/8/layout/hierarchy1"/>
    <dgm:cxn modelId="{BC38AB29-2759-0E4D-91C8-399C9F894E15}" type="presParOf" srcId="{508EADCC-6967-4D47-9F27-8D1F05FC6F8B}" destId="{65659505-478B-8940-9FC8-BC4BAF143872}" srcOrd="0" destOrd="0" presId="urn:microsoft.com/office/officeart/2005/8/layout/hierarchy1"/>
    <dgm:cxn modelId="{8C8996D3-9BB3-6C49-BDA4-12EF51BB437F}" type="presParOf" srcId="{65659505-478B-8940-9FC8-BC4BAF143872}" destId="{64B4EC76-8996-6D4E-A844-DDC335AE1A17}" srcOrd="0" destOrd="0" presId="urn:microsoft.com/office/officeart/2005/8/layout/hierarchy1"/>
    <dgm:cxn modelId="{BB77595C-DAF6-9F44-A346-64B183E794EF}" type="presParOf" srcId="{65659505-478B-8940-9FC8-BC4BAF143872}" destId="{A408EFD9-9606-154A-9038-F417C872F6CB}" srcOrd="1" destOrd="0" presId="urn:microsoft.com/office/officeart/2005/8/layout/hierarchy1"/>
    <dgm:cxn modelId="{B878329C-F339-6C4B-812D-13A2B1DC5157}" type="presParOf" srcId="{508EADCC-6967-4D47-9F27-8D1F05FC6F8B}" destId="{7AD52DBE-1681-7E40-B398-148454931204}"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5BEFAB-099B-4B80-A36F-922D5C79427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F791C80-1E9E-422E-B1E4-09FA2EA7AC98}">
      <dgm:prSet/>
      <dgm:spPr/>
      <dgm:t>
        <a:bodyPr/>
        <a:lstStyle/>
        <a:p>
          <a:r>
            <a:rPr lang="en-US"/>
            <a:t>Model comparison：AIC / BIC / Log-likelihood</a:t>
          </a:r>
        </a:p>
      </dgm:t>
    </dgm:pt>
    <dgm:pt modelId="{41881C47-763F-4559-A963-38DDA0D407AF}" type="parTrans" cxnId="{AAC13FDD-56D6-464F-B2F4-AE43A309C357}">
      <dgm:prSet/>
      <dgm:spPr/>
      <dgm:t>
        <a:bodyPr/>
        <a:lstStyle/>
        <a:p>
          <a:endParaRPr lang="en-US"/>
        </a:p>
      </dgm:t>
    </dgm:pt>
    <dgm:pt modelId="{3FB4AB2F-DEA5-4415-A1AB-EAF57CF4B60F}" type="sibTrans" cxnId="{AAC13FDD-56D6-464F-B2F4-AE43A309C357}">
      <dgm:prSet/>
      <dgm:spPr/>
      <dgm:t>
        <a:bodyPr/>
        <a:lstStyle/>
        <a:p>
          <a:endParaRPr lang="en-US"/>
        </a:p>
      </dgm:t>
    </dgm:pt>
    <dgm:pt modelId="{1ACFDE17-5C1B-4C5C-92C8-A13D59C0DAB2}">
      <dgm:prSet/>
      <dgm:spPr/>
      <dgm:t>
        <a:bodyPr/>
        <a:lstStyle/>
        <a:p>
          <a:r>
            <a:rPr lang="en-US"/>
            <a:t>VIF / multicollinearity check</a:t>
          </a:r>
        </a:p>
      </dgm:t>
    </dgm:pt>
    <dgm:pt modelId="{7AF04B4B-0B09-4C86-BF75-2D9D3A0E3F4F}" type="parTrans" cxnId="{9E6F6491-5CA4-4FF5-9DFD-138BFF6000DF}">
      <dgm:prSet/>
      <dgm:spPr/>
      <dgm:t>
        <a:bodyPr/>
        <a:lstStyle/>
        <a:p>
          <a:endParaRPr lang="en-US"/>
        </a:p>
      </dgm:t>
    </dgm:pt>
    <dgm:pt modelId="{F7983D5B-048E-4EB5-A04A-207CA3B06400}" type="sibTrans" cxnId="{9E6F6491-5CA4-4FF5-9DFD-138BFF6000DF}">
      <dgm:prSet/>
      <dgm:spPr/>
      <dgm:t>
        <a:bodyPr/>
        <a:lstStyle/>
        <a:p>
          <a:endParaRPr lang="en-US"/>
        </a:p>
      </dgm:t>
    </dgm:pt>
    <dgm:pt modelId="{D4AD4B7C-4E24-4208-91E9-EE4DAF3BA696}">
      <dgm:prSet/>
      <dgm:spPr/>
      <dgm:t>
        <a:bodyPr/>
        <a:lstStyle/>
        <a:p>
          <a:r>
            <a:rPr lang="en-US"/>
            <a:t>Predicted vs observed</a:t>
          </a:r>
        </a:p>
      </dgm:t>
    </dgm:pt>
    <dgm:pt modelId="{0E0D9615-FBBD-4F26-BC7D-4DB00DE289F9}" type="parTrans" cxnId="{41FD0763-E50D-41E5-BE3C-461DB7D7305C}">
      <dgm:prSet/>
      <dgm:spPr/>
      <dgm:t>
        <a:bodyPr/>
        <a:lstStyle/>
        <a:p>
          <a:endParaRPr lang="en-US"/>
        </a:p>
      </dgm:t>
    </dgm:pt>
    <dgm:pt modelId="{4819C53E-85BE-4AE9-A2F2-2AF0DD56C784}" type="sibTrans" cxnId="{41FD0763-E50D-41E5-BE3C-461DB7D7305C}">
      <dgm:prSet/>
      <dgm:spPr/>
      <dgm:t>
        <a:bodyPr/>
        <a:lstStyle/>
        <a:p>
          <a:endParaRPr lang="en-US"/>
        </a:p>
      </dgm:t>
    </dgm:pt>
    <dgm:pt modelId="{52AE9115-D140-FF4E-9754-CCCCCDF2B087}" type="pres">
      <dgm:prSet presAssocID="{CC5BEFAB-099B-4B80-A36F-922D5C794276}" presName="hierChild1" presStyleCnt="0">
        <dgm:presLayoutVars>
          <dgm:chPref val="1"/>
          <dgm:dir/>
          <dgm:animOne val="branch"/>
          <dgm:animLvl val="lvl"/>
          <dgm:resizeHandles/>
        </dgm:presLayoutVars>
      </dgm:prSet>
      <dgm:spPr/>
    </dgm:pt>
    <dgm:pt modelId="{8753D09D-D08F-D24A-8942-775A05ED10D3}" type="pres">
      <dgm:prSet presAssocID="{1F791C80-1E9E-422E-B1E4-09FA2EA7AC98}" presName="hierRoot1" presStyleCnt="0"/>
      <dgm:spPr/>
    </dgm:pt>
    <dgm:pt modelId="{1F32E510-AC0F-DD4B-989A-63CCE182AF54}" type="pres">
      <dgm:prSet presAssocID="{1F791C80-1E9E-422E-B1E4-09FA2EA7AC98}" presName="composite" presStyleCnt="0"/>
      <dgm:spPr/>
    </dgm:pt>
    <dgm:pt modelId="{87C02AC7-3351-2F40-8936-8C8579B162CA}" type="pres">
      <dgm:prSet presAssocID="{1F791C80-1E9E-422E-B1E4-09FA2EA7AC98}" presName="background" presStyleLbl="node0" presStyleIdx="0" presStyleCnt="3"/>
      <dgm:spPr>
        <a:solidFill>
          <a:schemeClr val="accent1">
            <a:lumMod val="75000"/>
            <a:alpha val="90000"/>
          </a:schemeClr>
        </a:solidFill>
      </dgm:spPr>
    </dgm:pt>
    <dgm:pt modelId="{473EA053-A50C-7044-A4BB-DE2327A314CE}" type="pres">
      <dgm:prSet presAssocID="{1F791C80-1E9E-422E-B1E4-09FA2EA7AC98}" presName="text" presStyleLbl="fgAcc0" presStyleIdx="0" presStyleCnt="3">
        <dgm:presLayoutVars>
          <dgm:chPref val="3"/>
        </dgm:presLayoutVars>
      </dgm:prSet>
      <dgm:spPr/>
    </dgm:pt>
    <dgm:pt modelId="{908EACEF-EF2D-9A42-9CA3-67482452F818}" type="pres">
      <dgm:prSet presAssocID="{1F791C80-1E9E-422E-B1E4-09FA2EA7AC98}" presName="hierChild2" presStyleCnt="0"/>
      <dgm:spPr/>
    </dgm:pt>
    <dgm:pt modelId="{20FB16CF-CF45-9243-B4F4-0FF1A237899B}" type="pres">
      <dgm:prSet presAssocID="{1ACFDE17-5C1B-4C5C-92C8-A13D59C0DAB2}" presName="hierRoot1" presStyleCnt="0"/>
      <dgm:spPr/>
    </dgm:pt>
    <dgm:pt modelId="{F43D0F50-EB0B-8746-8760-2C0E23AE000E}" type="pres">
      <dgm:prSet presAssocID="{1ACFDE17-5C1B-4C5C-92C8-A13D59C0DAB2}" presName="composite" presStyleCnt="0"/>
      <dgm:spPr/>
    </dgm:pt>
    <dgm:pt modelId="{2E1E6AB8-C196-2D45-B0CF-10F3B680BF33}" type="pres">
      <dgm:prSet presAssocID="{1ACFDE17-5C1B-4C5C-92C8-A13D59C0DAB2}" presName="background" presStyleLbl="node0" presStyleIdx="1" presStyleCnt="3"/>
      <dgm:spPr>
        <a:solidFill>
          <a:schemeClr val="accent1">
            <a:lumMod val="75000"/>
            <a:alpha val="90000"/>
          </a:schemeClr>
        </a:solidFill>
      </dgm:spPr>
    </dgm:pt>
    <dgm:pt modelId="{9217A941-6394-AD4D-AABE-47B1DD1DCF1F}" type="pres">
      <dgm:prSet presAssocID="{1ACFDE17-5C1B-4C5C-92C8-A13D59C0DAB2}" presName="text" presStyleLbl="fgAcc0" presStyleIdx="1" presStyleCnt="3">
        <dgm:presLayoutVars>
          <dgm:chPref val="3"/>
        </dgm:presLayoutVars>
      </dgm:prSet>
      <dgm:spPr/>
    </dgm:pt>
    <dgm:pt modelId="{E8E042AF-997C-7C4B-BA29-9977D0A700E1}" type="pres">
      <dgm:prSet presAssocID="{1ACFDE17-5C1B-4C5C-92C8-A13D59C0DAB2}" presName="hierChild2" presStyleCnt="0"/>
      <dgm:spPr/>
    </dgm:pt>
    <dgm:pt modelId="{524ED3E5-5FC5-3A4D-8897-EA7D889A878A}" type="pres">
      <dgm:prSet presAssocID="{D4AD4B7C-4E24-4208-91E9-EE4DAF3BA696}" presName="hierRoot1" presStyleCnt="0"/>
      <dgm:spPr/>
    </dgm:pt>
    <dgm:pt modelId="{EA9463FC-95F7-9A40-839A-84C3A405A943}" type="pres">
      <dgm:prSet presAssocID="{D4AD4B7C-4E24-4208-91E9-EE4DAF3BA696}" presName="composite" presStyleCnt="0"/>
      <dgm:spPr/>
    </dgm:pt>
    <dgm:pt modelId="{AACF32D3-16B4-E745-A020-8D4AD9EA94D1}" type="pres">
      <dgm:prSet presAssocID="{D4AD4B7C-4E24-4208-91E9-EE4DAF3BA696}" presName="background" presStyleLbl="node0" presStyleIdx="2" presStyleCnt="3"/>
      <dgm:spPr>
        <a:solidFill>
          <a:schemeClr val="accent1">
            <a:lumMod val="75000"/>
            <a:alpha val="90000"/>
          </a:schemeClr>
        </a:solidFill>
      </dgm:spPr>
    </dgm:pt>
    <dgm:pt modelId="{3AFDFE9D-02E3-3846-AA63-391A92283B4A}" type="pres">
      <dgm:prSet presAssocID="{D4AD4B7C-4E24-4208-91E9-EE4DAF3BA696}" presName="text" presStyleLbl="fgAcc0" presStyleIdx="2" presStyleCnt="3">
        <dgm:presLayoutVars>
          <dgm:chPref val="3"/>
        </dgm:presLayoutVars>
      </dgm:prSet>
      <dgm:spPr/>
    </dgm:pt>
    <dgm:pt modelId="{467CC7A9-9B6A-FB46-985E-F8957F7D8F02}" type="pres">
      <dgm:prSet presAssocID="{D4AD4B7C-4E24-4208-91E9-EE4DAF3BA696}" presName="hierChild2" presStyleCnt="0"/>
      <dgm:spPr/>
    </dgm:pt>
  </dgm:ptLst>
  <dgm:cxnLst>
    <dgm:cxn modelId="{F610FD02-DDEB-DF40-8044-BDEDC4B1EA1A}" type="presOf" srcId="{1F791C80-1E9E-422E-B1E4-09FA2EA7AC98}" destId="{473EA053-A50C-7044-A4BB-DE2327A314CE}" srcOrd="0" destOrd="0" presId="urn:microsoft.com/office/officeart/2005/8/layout/hierarchy1"/>
    <dgm:cxn modelId="{41FD0763-E50D-41E5-BE3C-461DB7D7305C}" srcId="{CC5BEFAB-099B-4B80-A36F-922D5C794276}" destId="{D4AD4B7C-4E24-4208-91E9-EE4DAF3BA696}" srcOrd="2" destOrd="0" parTransId="{0E0D9615-FBBD-4F26-BC7D-4DB00DE289F9}" sibTransId="{4819C53E-85BE-4AE9-A2F2-2AF0DD56C784}"/>
    <dgm:cxn modelId="{9E6F6491-5CA4-4FF5-9DFD-138BFF6000DF}" srcId="{CC5BEFAB-099B-4B80-A36F-922D5C794276}" destId="{1ACFDE17-5C1B-4C5C-92C8-A13D59C0DAB2}" srcOrd="1" destOrd="0" parTransId="{7AF04B4B-0B09-4C86-BF75-2D9D3A0E3F4F}" sibTransId="{F7983D5B-048E-4EB5-A04A-207CA3B06400}"/>
    <dgm:cxn modelId="{72A140B6-4F4D-664C-8E01-2B0CF2122797}" type="presOf" srcId="{1ACFDE17-5C1B-4C5C-92C8-A13D59C0DAB2}" destId="{9217A941-6394-AD4D-AABE-47B1DD1DCF1F}" srcOrd="0" destOrd="0" presId="urn:microsoft.com/office/officeart/2005/8/layout/hierarchy1"/>
    <dgm:cxn modelId="{C5AFA0C3-8BDD-534E-AD1D-6A27D2255721}" type="presOf" srcId="{CC5BEFAB-099B-4B80-A36F-922D5C794276}" destId="{52AE9115-D140-FF4E-9754-CCCCCDF2B087}" srcOrd="0" destOrd="0" presId="urn:microsoft.com/office/officeart/2005/8/layout/hierarchy1"/>
    <dgm:cxn modelId="{AAC13FDD-56D6-464F-B2F4-AE43A309C357}" srcId="{CC5BEFAB-099B-4B80-A36F-922D5C794276}" destId="{1F791C80-1E9E-422E-B1E4-09FA2EA7AC98}" srcOrd="0" destOrd="0" parTransId="{41881C47-763F-4559-A963-38DDA0D407AF}" sibTransId="{3FB4AB2F-DEA5-4415-A1AB-EAF57CF4B60F}"/>
    <dgm:cxn modelId="{3C4432E8-95D8-1A47-89D0-72D2EFD4E00B}" type="presOf" srcId="{D4AD4B7C-4E24-4208-91E9-EE4DAF3BA696}" destId="{3AFDFE9D-02E3-3846-AA63-391A92283B4A}" srcOrd="0" destOrd="0" presId="urn:microsoft.com/office/officeart/2005/8/layout/hierarchy1"/>
    <dgm:cxn modelId="{8C7E98C4-3764-A94D-B43E-192F3A9CA36E}" type="presParOf" srcId="{52AE9115-D140-FF4E-9754-CCCCCDF2B087}" destId="{8753D09D-D08F-D24A-8942-775A05ED10D3}" srcOrd="0" destOrd="0" presId="urn:microsoft.com/office/officeart/2005/8/layout/hierarchy1"/>
    <dgm:cxn modelId="{332BB099-5BC0-F04C-8E3E-FCF18F3A686C}" type="presParOf" srcId="{8753D09D-D08F-D24A-8942-775A05ED10D3}" destId="{1F32E510-AC0F-DD4B-989A-63CCE182AF54}" srcOrd="0" destOrd="0" presId="urn:microsoft.com/office/officeart/2005/8/layout/hierarchy1"/>
    <dgm:cxn modelId="{242BD472-C69B-A34D-998D-BEEC8FA4AE39}" type="presParOf" srcId="{1F32E510-AC0F-DD4B-989A-63CCE182AF54}" destId="{87C02AC7-3351-2F40-8936-8C8579B162CA}" srcOrd="0" destOrd="0" presId="urn:microsoft.com/office/officeart/2005/8/layout/hierarchy1"/>
    <dgm:cxn modelId="{340997C4-3BEE-DB4E-B9CD-B33DD89DD7D5}" type="presParOf" srcId="{1F32E510-AC0F-DD4B-989A-63CCE182AF54}" destId="{473EA053-A50C-7044-A4BB-DE2327A314CE}" srcOrd="1" destOrd="0" presId="urn:microsoft.com/office/officeart/2005/8/layout/hierarchy1"/>
    <dgm:cxn modelId="{6D20724C-DCD6-FB47-B7F2-289257636018}" type="presParOf" srcId="{8753D09D-D08F-D24A-8942-775A05ED10D3}" destId="{908EACEF-EF2D-9A42-9CA3-67482452F818}" srcOrd="1" destOrd="0" presId="urn:microsoft.com/office/officeart/2005/8/layout/hierarchy1"/>
    <dgm:cxn modelId="{2F369C65-9693-5840-BAF6-CCC4910390A2}" type="presParOf" srcId="{52AE9115-D140-FF4E-9754-CCCCCDF2B087}" destId="{20FB16CF-CF45-9243-B4F4-0FF1A237899B}" srcOrd="1" destOrd="0" presId="urn:microsoft.com/office/officeart/2005/8/layout/hierarchy1"/>
    <dgm:cxn modelId="{DB1DC25A-92C1-D846-A5CA-CEDF0CF11881}" type="presParOf" srcId="{20FB16CF-CF45-9243-B4F4-0FF1A237899B}" destId="{F43D0F50-EB0B-8746-8760-2C0E23AE000E}" srcOrd="0" destOrd="0" presId="urn:microsoft.com/office/officeart/2005/8/layout/hierarchy1"/>
    <dgm:cxn modelId="{ABC5DCAA-0453-3F4A-8536-14993DC05339}" type="presParOf" srcId="{F43D0F50-EB0B-8746-8760-2C0E23AE000E}" destId="{2E1E6AB8-C196-2D45-B0CF-10F3B680BF33}" srcOrd="0" destOrd="0" presId="urn:microsoft.com/office/officeart/2005/8/layout/hierarchy1"/>
    <dgm:cxn modelId="{B60ED793-F756-3D43-9956-1F4D25B13EF3}" type="presParOf" srcId="{F43D0F50-EB0B-8746-8760-2C0E23AE000E}" destId="{9217A941-6394-AD4D-AABE-47B1DD1DCF1F}" srcOrd="1" destOrd="0" presId="urn:microsoft.com/office/officeart/2005/8/layout/hierarchy1"/>
    <dgm:cxn modelId="{3DEE2164-2B66-2544-A7DB-CAFCE91CE66D}" type="presParOf" srcId="{20FB16CF-CF45-9243-B4F4-0FF1A237899B}" destId="{E8E042AF-997C-7C4B-BA29-9977D0A700E1}" srcOrd="1" destOrd="0" presId="urn:microsoft.com/office/officeart/2005/8/layout/hierarchy1"/>
    <dgm:cxn modelId="{9F8D3CC2-1569-464F-8245-16B2B0F48599}" type="presParOf" srcId="{52AE9115-D140-FF4E-9754-CCCCCDF2B087}" destId="{524ED3E5-5FC5-3A4D-8897-EA7D889A878A}" srcOrd="2" destOrd="0" presId="urn:microsoft.com/office/officeart/2005/8/layout/hierarchy1"/>
    <dgm:cxn modelId="{5A502387-1B30-3845-AA9D-ED95E6B37836}" type="presParOf" srcId="{524ED3E5-5FC5-3A4D-8897-EA7D889A878A}" destId="{EA9463FC-95F7-9A40-839A-84C3A405A943}" srcOrd="0" destOrd="0" presId="urn:microsoft.com/office/officeart/2005/8/layout/hierarchy1"/>
    <dgm:cxn modelId="{9FD25530-183C-7544-BD41-120EEE4CA9B8}" type="presParOf" srcId="{EA9463FC-95F7-9A40-839A-84C3A405A943}" destId="{AACF32D3-16B4-E745-A020-8D4AD9EA94D1}" srcOrd="0" destOrd="0" presId="urn:microsoft.com/office/officeart/2005/8/layout/hierarchy1"/>
    <dgm:cxn modelId="{9AE096C8-DEB7-2743-B697-A03E6CC4597B}" type="presParOf" srcId="{EA9463FC-95F7-9A40-839A-84C3A405A943}" destId="{3AFDFE9D-02E3-3846-AA63-391A92283B4A}" srcOrd="1" destOrd="0" presId="urn:microsoft.com/office/officeart/2005/8/layout/hierarchy1"/>
    <dgm:cxn modelId="{54F270B8-5BFC-EC47-99AF-99A9A86AA7CB}" type="presParOf" srcId="{524ED3E5-5FC5-3A4D-8897-EA7D889A878A}" destId="{467CC7A9-9B6A-FB46-985E-F8957F7D8F02}"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F9060D-E924-4647-8269-C107F9B6BB4F}">
      <dsp:nvSpPr>
        <dsp:cNvPr id="0" name=""/>
        <dsp:cNvSpPr/>
      </dsp:nvSpPr>
      <dsp:spPr>
        <a:xfrm>
          <a:off x="0"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DE1B50-F522-244B-867E-60CFC7936390}">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Roadway exposure is positively associated with expected crash counts.  </a:t>
          </a:r>
        </a:p>
      </dsp:txBody>
      <dsp:txXfrm>
        <a:off x="398656" y="1088253"/>
        <a:ext cx="2959127" cy="1837317"/>
      </dsp:txXfrm>
    </dsp:sp>
    <dsp:sp modelId="{83A5950F-C68D-2D4E-A08B-92DDFFECE1E0}">
      <dsp:nvSpPr>
        <dsp:cNvPr id="0" name=""/>
        <dsp:cNvSpPr/>
      </dsp:nvSpPr>
      <dsp:spPr>
        <a:xfrm>
          <a:off x="3756441"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48AF0D-0B34-2240-A821-1C426A1D30B6}">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Higher Black population share is also associated with higher expected crash counts after controlling for roadway exposure.</a:t>
          </a:r>
        </a:p>
      </dsp:txBody>
      <dsp:txXfrm>
        <a:off x="4155097" y="1088253"/>
        <a:ext cx="2959127" cy="1837317"/>
      </dsp:txXfrm>
    </dsp:sp>
    <dsp:sp modelId="{2F789E69-11D0-0049-92EB-76C9F93C37A5}">
      <dsp:nvSpPr>
        <dsp:cNvPr id="0" name=""/>
        <dsp:cNvSpPr/>
      </dsp:nvSpPr>
      <dsp:spPr>
        <a:xfrm>
          <a:off x="7512882"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D7AFBD-925F-114E-B2F2-E324E5BB7EC0}">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Hispanic population share is not statistically significant in the main model. No strong evidence that roadway exposure has an additional amplified effect by Black or Hispanic share.</a:t>
          </a:r>
        </a:p>
      </dsp:txBody>
      <dsp:txXfrm>
        <a:off x="7911539" y="1088253"/>
        <a:ext cx="2959127" cy="18373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5D3CF-D10A-AA46-A973-E6CFC51ACFA5}">
      <dsp:nvSpPr>
        <dsp:cNvPr id="0" name=""/>
        <dsp:cNvSpPr/>
      </dsp:nvSpPr>
      <dsp:spPr>
        <a:xfrm>
          <a:off x="1283" y="507953"/>
          <a:ext cx="4505585" cy="2861046"/>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285916-AA07-844D-BB35-C1E7F103F24D}">
      <dsp:nvSpPr>
        <dsp:cNvPr id="0" name=""/>
        <dsp:cNvSpPr/>
      </dsp:nvSpPr>
      <dsp:spPr>
        <a:xfrm>
          <a:off x="501904" y="983543"/>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t>Key variables</a:t>
          </a:r>
          <a:r>
            <a:rPr lang="en-US" sz="2500" kern="1200" dirty="0"/>
            <a:t>: crash density, road density, signal density, intersection density, a roadway exposure index, and Black / Hispanic population share </a:t>
          </a:r>
        </a:p>
      </dsp:txBody>
      <dsp:txXfrm>
        <a:off x="585701" y="1067340"/>
        <a:ext cx="4337991" cy="2693452"/>
      </dsp:txXfrm>
    </dsp:sp>
    <dsp:sp modelId="{64B4EC76-8996-6D4E-A844-DDC335AE1A17}">
      <dsp:nvSpPr>
        <dsp:cNvPr id="0" name=""/>
        <dsp:cNvSpPr/>
      </dsp:nvSpPr>
      <dsp:spPr>
        <a:xfrm>
          <a:off x="5508110" y="507953"/>
          <a:ext cx="4505585" cy="2861046"/>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08EFD9-9606-154A-9038-F417C872F6CB}">
      <dsp:nvSpPr>
        <dsp:cNvPr id="0" name=""/>
        <dsp:cNvSpPr/>
      </dsp:nvSpPr>
      <dsp:spPr>
        <a:xfrm>
          <a:off x="6008730" y="983543"/>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Although the panel includes many roadway attributes, the regression uses a smaller theory-driven set of predictors to avoid data leakage, multicollinearity, and overfitting.</a:t>
          </a:r>
        </a:p>
      </dsp:txBody>
      <dsp:txXfrm>
        <a:off x="6092527" y="1067340"/>
        <a:ext cx="4337991" cy="2693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02AC7-3351-2F40-8936-8C8579B162CA}">
      <dsp:nvSpPr>
        <dsp:cNvPr id="0" name=""/>
        <dsp:cNvSpPr/>
      </dsp:nvSpPr>
      <dsp:spPr>
        <a:xfrm>
          <a:off x="0"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3EA053-A50C-7044-A4BB-DE2327A314CE}">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Model comparison：AIC / BIC / Log-likelihood</a:t>
          </a:r>
        </a:p>
      </dsp:txBody>
      <dsp:txXfrm>
        <a:off x="398656" y="1088253"/>
        <a:ext cx="2959127" cy="1837317"/>
      </dsp:txXfrm>
    </dsp:sp>
    <dsp:sp modelId="{2E1E6AB8-C196-2D45-B0CF-10F3B680BF33}">
      <dsp:nvSpPr>
        <dsp:cNvPr id="0" name=""/>
        <dsp:cNvSpPr/>
      </dsp:nvSpPr>
      <dsp:spPr>
        <a:xfrm>
          <a:off x="3756441"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17A941-6394-AD4D-AABE-47B1DD1DCF1F}">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VIF / multicollinearity check</a:t>
          </a:r>
        </a:p>
      </dsp:txBody>
      <dsp:txXfrm>
        <a:off x="4155097" y="1088253"/>
        <a:ext cx="2959127" cy="1837317"/>
      </dsp:txXfrm>
    </dsp:sp>
    <dsp:sp modelId="{AACF32D3-16B4-E745-A020-8D4AD9EA94D1}">
      <dsp:nvSpPr>
        <dsp:cNvPr id="0" name=""/>
        <dsp:cNvSpPr/>
      </dsp:nvSpPr>
      <dsp:spPr>
        <a:xfrm>
          <a:off x="7512882" y="706671"/>
          <a:ext cx="3073451" cy="1951641"/>
        </a:xfrm>
        <a:prstGeom prst="roundRect">
          <a:avLst>
            <a:gd name="adj" fmla="val 10000"/>
          </a:avLst>
        </a:prstGeom>
        <a:solidFill>
          <a:schemeClr val="accent1">
            <a:lumMod val="75000"/>
            <a:alpha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DFE9D-02E3-3846-AA63-391A92283B4A}">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Predicted vs observed</a:t>
          </a:r>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2DC059-FCF5-D24D-9445-0C885775322A}" type="datetimeFigureOut">
              <a:rPr lang="en-US" smtClean="0"/>
              <a:t>6/28/26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F01CE2-8EFC-784A-8697-B37CF2BED03A}" type="slidenum">
              <a:rPr lang="en-US" smtClean="0"/>
              <a:t>‹#›</a:t>
            </a:fld>
            <a:endParaRPr lang="en-US"/>
          </a:p>
        </p:txBody>
      </p:sp>
    </p:spTree>
    <p:extLst>
      <p:ext uri="{BB962C8B-B14F-4D97-AF65-F5344CB8AC3E}">
        <p14:creationId xmlns:p14="http://schemas.microsoft.com/office/powerpoint/2010/main" val="193383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Today I’m presenting my project: Beyond Premium Gaps — Roadway Exposure, Crash Concentration, and Spatial Equity in DC Auto Insurance.</a:t>
            </a:r>
          </a:p>
          <a:p>
            <a:r>
              <a:rPr lang="en-US" sz="1200" kern="1200" dirty="0">
                <a:solidFill>
                  <a:schemeClr val="tx1"/>
                </a:solidFill>
                <a:effectLst/>
                <a:latin typeface="+mn-lt"/>
                <a:ea typeface="+mn-ea"/>
                <a:cs typeface="+mn-cs"/>
              </a:rPr>
              <a:t>This is a geospatial analysis of roadway infrastructure, crash risk exposure, and demographic context across Washington, DC census tracts.</a:t>
            </a:r>
          </a:p>
          <a:p>
            <a:endParaRPr lang="en-US" dirty="0"/>
          </a:p>
          <a:p>
            <a:endParaRPr lang="en-US" dirty="0"/>
          </a:p>
        </p:txBody>
      </p:sp>
      <p:sp>
        <p:nvSpPr>
          <p:cNvPr id="4" name="Slide Number Placeholder 3"/>
          <p:cNvSpPr>
            <a:spLocks noGrp="1"/>
          </p:cNvSpPr>
          <p:nvPr>
            <p:ph type="sldNum" sz="quarter" idx="5"/>
          </p:nvPr>
        </p:nvSpPr>
        <p:spPr/>
        <p:txBody>
          <a:bodyPr/>
          <a:lstStyle/>
          <a:p>
            <a:fld id="{B8F01CE2-8EFC-784A-8697-B37CF2BED03A}" type="slidenum">
              <a:rPr lang="en-US" smtClean="0"/>
              <a:t>1</a:t>
            </a:fld>
            <a:endParaRPr lang="en-US"/>
          </a:p>
        </p:txBody>
      </p:sp>
    </p:spTree>
    <p:extLst>
      <p:ext uri="{BB962C8B-B14F-4D97-AF65-F5344CB8AC3E}">
        <p14:creationId xmlns:p14="http://schemas.microsoft.com/office/powerpoint/2010/main" val="1097168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main objective of this project is to examine whether roadway conditions and roadway characteristics are associated with crash concentration in Washington, DC.</a:t>
            </a:r>
          </a:p>
          <a:p>
            <a:r>
              <a:rPr lang="en-US" sz="1200" kern="1200" dirty="0">
                <a:solidFill>
                  <a:schemeClr val="tx1"/>
                </a:solidFill>
                <a:effectLst/>
                <a:latin typeface="+mn-lt"/>
                <a:ea typeface="+mn-ea"/>
                <a:cs typeface="+mn-cs"/>
              </a:rPr>
              <a:t>I also examine whether high-crash areas spatially overlap with census tracts that have higher Black or Hispanic population shares.</a:t>
            </a:r>
          </a:p>
          <a:p>
            <a:r>
              <a:rPr lang="en-US" sz="1200" kern="1200" dirty="0">
                <a:solidFill>
                  <a:schemeClr val="tx1"/>
                </a:solidFill>
                <a:effectLst/>
                <a:latin typeface="+mn-lt"/>
                <a:ea typeface="+mn-ea"/>
                <a:cs typeface="+mn-cs"/>
              </a:rPr>
              <a:t>So this project is not only about crashes. It is also about roadway exposure and spatial equity context.</a:t>
            </a:r>
          </a:p>
          <a:p>
            <a:endParaRPr lang="en-US" dirty="0"/>
          </a:p>
        </p:txBody>
      </p:sp>
      <p:sp>
        <p:nvSpPr>
          <p:cNvPr id="4" name="Slide Number Placeholder 3"/>
          <p:cNvSpPr>
            <a:spLocks noGrp="1"/>
          </p:cNvSpPr>
          <p:nvPr>
            <p:ph type="sldNum" sz="quarter" idx="5"/>
          </p:nvPr>
        </p:nvSpPr>
        <p:spPr/>
        <p:txBody>
          <a:bodyPr/>
          <a:lstStyle/>
          <a:p>
            <a:fld id="{B8F01CE2-8EFC-784A-8697-B37CF2BED03A}" type="slidenum">
              <a:rPr lang="en-US" smtClean="0"/>
              <a:t>2</a:t>
            </a:fld>
            <a:endParaRPr lang="en-US"/>
          </a:p>
        </p:txBody>
      </p:sp>
    </p:spTree>
    <p:extLst>
      <p:ext uri="{BB962C8B-B14F-4D97-AF65-F5344CB8AC3E}">
        <p14:creationId xmlns:p14="http://schemas.microsoft.com/office/powerpoint/2010/main" val="370831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project is connected to the broader auto insurance bias discussion.</a:t>
            </a:r>
          </a:p>
          <a:p>
            <a:r>
              <a:rPr lang="en-US" sz="1200" kern="1200" dirty="0">
                <a:solidFill>
                  <a:schemeClr val="tx1"/>
                </a:solidFill>
                <a:effectLst/>
                <a:latin typeface="+mn-lt"/>
                <a:ea typeface="+mn-ea"/>
                <a:cs typeface="+mn-cs"/>
              </a:rPr>
              <a:t>The DISB report on unintentional bias focused on racial premium gaps in private passenger auto insurance from January 1, 2019, through December 31, 2021. The key question was: after accounting for legitimate explanatory factors, why do Black drivers still pay higher premiums?</a:t>
            </a:r>
          </a:p>
          <a:p>
            <a:r>
              <a:rPr lang="en-US" sz="1200" kern="1200" dirty="0">
                <a:solidFill>
                  <a:schemeClr val="tx1"/>
                </a:solidFill>
                <a:effectLst/>
                <a:latin typeface="+mn-lt"/>
                <a:ea typeface="+mn-ea"/>
                <a:cs typeface="+mn-cs"/>
              </a:rPr>
              <a:t>The table on the right shows the premium differences from the DISB report. For example, the average annual premium was about </a:t>
            </a:r>
            <a:r>
              <a:rPr lang="en-US" sz="1200" b="1" kern="1200" dirty="0">
                <a:solidFill>
                  <a:schemeClr val="tx1"/>
                </a:solidFill>
                <a:effectLst/>
                <a:latin typeface="+mn-lt"/>
                <a:ea typeface="+mn-ea"/>
                <a:cs typeface="+mn-cs"/>
              </a:rPr>
              <a:t>$705 for White drivers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$1,031 for Black drivers</a:t>
            </a:r>
            <a:r>
              <a:rPr lang="en-US" sz="1200" kern="1200" dirty="0">
                <a:solidFill>
                  <a:schemeClr val="tx1"/>
                </a:solidFill>
                <a:effectLst/>
                <a:latin typeface="+mn-lt"/>
                <a:ea typeface="+mn-ea"/>
                <a:cs typeface="+mn-cs"/>
              </a:rPr>
              <a:t>, which is about </a:t>
            </a:r>
            <a:r>
              <a:rPr lang="en-US" sz="1200" b="1" kern="1200" dirty="0">
                <a:solidFill>
                  <a:schemeClr val="tx1"/>
                </a:solidFill>
                <a:effectLst/>
                <a:latin typeface="+mn-lt"/>
                <a:ea typeface="+mn-ea"/>
                <a:cs typeface="+mn-cs"/>
              </a:rPr>
              <a:t>46% higher</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My project does not directly test insurance pricing bias because I do not have individual policy premium data or insurance claim-level data.</a:t>
            </a:r>
          </a:p>
          <a:p>
            <a:r>
              <a:rPr lang="en-US" sz="1200" kern="1200" dirty="0">
                <a:solidFill>
                  <a:schemeClr val="tx1"/>
                </a:solidFill>
                <a:effectLst/>
                <a:latin typeface="+mn-lt"/>
                <a:ea typeface="+mn-ea"/>
                <a:cs typeface="+mn-cs"/>
              </a:rPr>
              <a:t>Instead, this project provides geographic context by examining whether roadway exposure and crash concentration vary across communities, and whether high-crash areas overlap with higher Black-share or Hispanic-share census tracts.</a:t>
            </a:r>
          </a:p>
        </p:txBody>
      </p:sp>
      <p:sp>
        <p:nvSpPr>
          <p:cNvPr id="4" name="Slide Number Placeholder 3"/>
          <p:cNvSpPr>
            <a:spLocks noGrp="1"/>
          </p:cNvSpPr>
          <p:nvPr>
            <p:ph type="sldNum" sz="quarter" idx="5"/>
          </p:nvPr>
        </p:nvSpPr>
        <p:spPr/>
        <p:txBody>
          <a:bodyPr/>
          <a:lstStyle/>
          <a:p>
            <a:fld id="{B8F01CE2-8EFC-784A-8697-B37CF2BED03A}" type="slidenum">
              <a:rPr lang="en-US" smtClean="0"/>
              <a:t>3</a:t>
            </a:fld>
            <a:endParaRPr lang="en-US"/>
          </a:p>
        </p:txBody>
      </p:sp>
    </p:spTree>
    <p:extLst>
      <p:ext uri="{BB962C8B-B14F-4D97-AF65-F5344CB8AC3E}">
        <p14:creationId xmlns:p14="http://schemas.microsoft.com/office/powerpoint/2010/main" val="3896995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findings are:</a:t>
            </a:r>
          </a:p>
          <a:p>
            <a:endParaRPr lang="en-US" dirty="0"/>
          </a:p>
          <a:p>
            <a:r>
              <a:rPr lang="en-US" dirty="0"/>
              <a:t>1. roadway exposure is positively associated with expected crash counts. Census tracts with greater roadway exposure tend to have higher expected crash counts.</a:t>
            </a:r>
          </a:p>
          <a:p>
            <a:r>
              <a:rPr lang="en-US" dirty="0"/>
              <a:t>2. higher Black population share is also associated with higher expected crash counts after controlling for roadway exposure and other roadway characteristics. This should be interpreted as a tract-level spatial equity pattern, not an individual-level causal effect.</a:t>
            </a:r>
          </a:p>
          <a:p>
            <a:r>
              <a:rPr lang="en-US" dirty="0"/>
              <a:t>3. Hispanic population share is not statistically significant in the main model. In addition, the interaction model does not provide strong evidence that roadway exposure has an additional amplified effect by Black or Hispanic population share.</a:t>
            </a:r>
          </a:p>
          <a:p>
            <a:endParaRPr lang="en-US" dirty="0"/>
          </a:p>
          <a:p>
            <a:r>
              <a:rPr lang="en-US" dirty="0"/>
              <a:t>So the overall takeaway is that roadway exposure matters, and higher Black-share tracts show higher expected crash counts after controls. However, the model does not find strong evidence of a Hispanic-share effect or an amplified roadway exposure effect by Black or Hispanic share.</a:t>
            </a:r>
          </a:p>
        </p:txBody>
      </p:sp>
      <p:sp>
        <p:nvSpPr>
          <p:cNvPr id="4" name="Slide Number Placeholder 3"/>
          <p:cNvSpPr>
            <a:spLocks noGrp="1"/>
          </p:cNvSpPr>
          <p:nvPr>
            <p:ph type="sldNum" sz="quarter" idx="5"/>
          </p:nvPr>
        </p:nvSpPr>
        <p:spPr/>
        <p:txBody>
          <a:bodyPr/>
          <a:lstStyle/>
          <a:p>
            <a:fld id="{B8F01CE2-8EFC-784A-8697-B37CF2BED03A}" type="slidenum">
              <a:rPr lang="en-US" smtClean="0"/>
              <a:t>4</a:t>
            </a:fld>
            <a:endParaRPr lang="en-US"/>
          </a:p>
        </p:txBody>
      </p:sp>
    </p:spTree>
    <p:extLst>
      <p:ext uri="{BB962C8B-B14F-4D97-AF65-F5344CB8AC3E}">
        <p14:creationId xmlns:p14="http://schemas.microsoft.com/office/powerpoint/2010/main" val="932665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project combines five main datasets.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first is Crashes in DC, which provides point-level crash records.</a:t>
            </a:r>
          </a:p>
          <a:p>
            <a:r>
              <a:rPr lang="en-US" sz="1200" kern="1200" dirty="0">
                <a:solidFill>
                  <a:schemeClr val="tx1"/>
                </a:solidFill>
                <a:effectLst/>
                <a:latin typeface="+mn-lt"/>
                <a:ea typeface="+mn-ea"/>
                <a:cs typeface="+mn-cs"/>
              </a:rPr>
              <a:t>The second is Census Tracts in 2020, which provides the spatial unit and tract boundaries.</a:t>
            </a:r>
          </a:p>
          <a:p>
            <a:r>
              <a:rPr lang="en-US" sz="1200" kern="1200" dirty="0">
                <a:solidFill>
                  <a:schemeClr val="tx1"/>
                </a:solidFill>
                <a:effectLst/>
                <a:latin typeface="+mn-lt"/>
                <a:ea typeface="+mn-ea"/>
                <a:cs typeface="+mn-cs"/>
              </a:rPr>
              <a:t>The third is Roadway Block, which provides roadway characteristics.</a:t>
            </a:r>
          </a:p>
          <a:p>
            <a:r>
              <a:rPr lang="en-US" sz="1200" kern="1200" dirty="0">
                <a:solidFill>
                  <a:schemeClr val="tx1"/>
                </a:solidFill>
                <a:effectLst/>
                <a:latin typeface="+mn-lt"/>
                <a:ea typeface="+mn-ea"/>
                <a:cs typeface="+mn-cs"/>
              </a:rPr>
              <a:t>The fourth is Roadway Block Intersection, which helps measure intersection exposure.</a:t>
            </a:r>
          </a:p>
          <a:p>
            <a:r>
              <a:rPr lang="en-US" sz="1200" kern="1200" dirty="0">
                <a:solidFill>
                  <a:schemeClr val="tx1"/>
                </a:solidFill>
                <a:effectLst/>
                <a:latin typeface="+mn-lt"/>
                <a:ea typeface="+mn-ea"/>
                <a:cs typeface="+mn-cs"/>
              </a:rPr>
              <a:t>The fifth is Traffic Signal, which helps measure signal density and traffic control infrastructure.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of these datasets come from Open Data DC.</a:t>
            </a:r>
          </a:p>
        </p:txBody>
      </p:sp>
      <p:sp>
        <p:nvSpPr>
          <p:cNvPr id="4" name="Slide Number Placeholder 3"/>
          <p:cNvSpPr>
            <a:spLocks noGrp="1"/>
          </p:cNvSpPr>
          <p:nvPr>
            <p:ph type="sldNum" sz="quarter" idx="5"/>
          </p:nvPr>
        </p:nvSpPr>
        <p:spPr/>
        <p:txBody>
          <a:bodyPr/>
          <a:lstStyle/>
          <a:p>
            <a:fld id="{B8F01CE2-8EFC-784A-8697-B37CF2BED03A}" type="slidenum">
              <a:rPr lang="en-US" smtClean="0"/>
              <a:t>5</a:t>
            </a:fld>
            <a:endParaRPr lang="en-US"/>
          </a:p>
        </p:txBody>
      </p:sp>
    </p:spTree>
    <p:extLst>
      <p:ext uri="{BB962C8B-B14F-4D97-AF65-F5344CB8AC3E}">
        <p14:creationId xmlns:p14="http://schemas.microsoft.com/office/powerpoint/2010/main" val="3544872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2E743-0155-1FA5-CEF4-49975B690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DD462-EE51-8759-8A1E-9C6A0AB26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E5168-2B92-7304-9F58-1502C14EA993}"/>
              </a:ext>
            </a:extLst>
          </p:cNvPr>
          <p:cNvSpPr>
            <a:spLocks noGrp="1"/>
          </p:cNvSpPr>
          <p:nvPr>
            <p:ph type="body" idx="1"/>
          </p:nvPr>
        </p:nvSpPr>
        <p:spPr/>
        <p:txBody>
          <a:bodyPr/>
          <a:lstStyle/>
          <a:p>
            <a:r>
              <a:rPr lang="en-US" dirty="0"/>
              <a:t>This project is not focused on each individual crash record. Instead, I want to compare crash concentration across different census tracts and over time.</a:t>
            </a:r>
          </a:p>
          <a:p>
            <a:endParaRPr lang="en-US" dirty="0"/>
          </a:p>
          <a:p>
            <a:r>
              <a:rPr lang="en-US" dirty="0"/>
              <a:t>The challenge is that the datasets start at different levels. Crashes are point-level records, while roadway and demographic variables are measured at the census-tract level.</a:t>
            </a:r>
          </a:p>
          <a:p>
            <a:endParaRPr lang="en-US" dirty="0"/>
          </a:p>
          <a:p>
            <a:r>
              <a:rPr lang="en-US" dirty="0"/>
              <a:t>So I spatially joined crash records to census tracts, and then aggregated them by month.</a:t>
            </a:r>
          </a:p>
          <a:p>
            <a:endParaRPr lang="en-US" dirty="0"/>
          </a:p>
          <a:p>
            <a:r>
              <a:rPr lang="en-US" dirty="0"/>
              <a:t>The final unit is one census tract by one year-month.</a:t>
            </a:r>
          </a:p>
        </p:txBody>
      </p:sp>
      <p:sp>
        <p:nvSpPr>
          <p:cNvPr id="4" name="Slide Number Placeholder 3">
            <a:extLst>
              <a:ext uri="{FF2B5EF4-FFF2-40B4-BE49-F238E27FC236}">
                <a16:creationId xmlns:a16="http://schemas.microsoft.com/office/drawing/2014/main" id="{987938E0-0763-AE38-3EA8-FD1F1B1410AC}"/>
              </a:ext>
            </a:extLst>
          </p:cNvPr>
          <p:cNvSpPr>
            <a:spLocks noGrp="1"/>
          </p:cNvSpPr>
          <p:nvPr>
            <p:ph type="sldNum" sz="quarter" idx="5"/>
          </p:nvPr>
        </p:nvSpPr>
        <p:spPr/>
        <p:txBody>
          <a:bodyPr/>
          <a:lstStyle/>
          <a:p>
            <a:fld id="{B8F01CE2-8EFC-784A-8697-B37CF2BED03A}" type="slidenum">
              <a:rPr lang="en-US" smtClean="0"/>
              <a:t>6</a:t>
            </a:fld>
            <a:endParaRPr lang="en-US"/>
          </a:p>
        </p:txBody>
      </p:sp>
    </p:spTree>
    <p:extLst>
      <p:ext uri="{BB962C8B-B14F-4D97-AF65-F5344CB8AC3E}">
        <p14:creationId xmlns:p14="http://schemas.microsoft.com/office/powerpoint/2010/main" val="3313783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use density measures because raw counts can be misleading.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Census tracts are not the same size. A larger tract may naturally have more crashes, more road length, more intersections, and more traffic signals simply because it covers more land area.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I normalized key variables by land area.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crash density equals crash count divided by area in the unit of squared km. Road density, signal density, and intersection density follow the same idea.</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shifts the analysis from “how many” to “how concentrated.”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8F01CE2-8EFC-784A-8697-B37CF2BED03A}" type="slidenum">
              <a:rPr lang="en-US" smtClean="0"/>
              <a:t>7</a:t>
            </a:fld>
            <a:endParaRPr lang="en-US"/>
          </a:p>
        </p:txBody>
      </p:sp>
    </p:spTree>
    <p:extLst>
      <p:ext uri="{BB962C8B-B14F-4D97-AF65-F5344CB8AC3E}">
        <p14:creationId xmlns:p14="http://schemas.microsoft.com/office/powerpoint/2010/main" val="2234006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After aggregation, I created key variables such as crash density, road density, signal density, intersection density, roadway exposure index, and Black and Hispanic population share.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full dataset contains many roadway attributes, but I did not put all of them into the regression model.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final regression uses a smaller theory-driven set of predictors to avoid data leakage, multicollinearity, and overfitting.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goal is to make the model interpretable, not just to include every available variable.</a:t>
            </a:r>
            <a:r>
              <a:rPr lang="en-US" dirty="0">
                <a:effectLst/>
              </a:rPr>
              <a:t> </a:t>
            </a:r>
            <a:endParaRPr lang="en-US" dirty="0"/>
          </a:p>
        </p:txBody>
      </p:sp>
      <p:sp>
        <p:nvSpPr>
          <p:cNvPr id="4" name="Slide Number Placeholder 3"/>
          <p:cNvSpPr>
            <a:spLocks noGrp="1"/>
          </p:cNvSpPr>
          <p:nvPr>
            <p:ph type="sldNum" sz="quarter" idx="5"/>
          </p:nvPr>
        </p:nvSpPr>
        <p:spPr/>
        <p:txBody>
          <a:bodyPr/>
          <a:lstStyle/>
          <a:p>
            <a:fld id="{B8F01CE2-8EFC-784A-8697-B37CF2BED03A}" type="slidenum">
              <a:rPr lang="en-US" smtClean="0"/>
              <a:t>8</a:t>
            </a:fld>
            <a:endParaRPr lang="en-US"/>
          </a:p>
        </p:txBody>
      </p:sp>
    </p:spTree>
    <p:extLst>
      <p:ext uri="{BB962C8B-B14F-4D97-AF65-F5344CB8AC3E}">
        <p14:creationId xmlns:p14="http://schemas.microsoft.com/office/powerpoint/2010/main" val="1286896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first EDA section looks at crash concentration across DC.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main point is that crash density is not evenly distributed.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Some census tracts consistently show higher crash concentration than others, especially the central area.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suggests that location and roadway environment matter. Crashes are not randomly spread across the city.</a:t>
            </a:r>
            <a:r>
              <a:rPr lang="en-US" dirty="0">
                <a:effectLst/>
              </a:rPr>
              <a:t> </a:t>
            </a:r>
            <a:endParaRPr lang="en-US" dirty="0"/>
          </a:p>
        </p:txBody>
      </p:sp>
      <p:sp>
        <p:nvSpPr>
          <p:cNvPr id="4" name="Slide Number Placeholder 3"/>
          <p:cNvSpPr>
            <a:spLocks noGrp="1"/>
          </p:cNvSpPr>
          <p:nvPr>
            <p:ph type="sldNum" sz="quarter" idx="5"/>
          </p:nvPr>
        </p:nvSpPr>
        <p:spPr/>
        <p:txBody>
          <a:bodyPr/>
          <a:lstStyle/>
          <a:p>
            <a:fld id="{B8F01CE2-8EFC-784A-8697-B37CF2BED03A}" type="slidenum">
              <a:rPr lang="en-US" smtClean="0"/>
              <a:t>9</a:t>
            </a:fld>
            <a:endParaRPr lang="en-US"/>
          </a:p>
        </p:txBody>
      </p:sp>
    </p:spTree>
    <p:extLst>
      <p:ext uri="{BB962C8B-B14F-4D97-AF65-F5344CB8AC3E}">
        <p14:creationId xmlns:p14="http://schemas.microsoft.com/office/powerpoint/2010/main" val="3424421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scatter plot looks at the relationship between road density and average annual crash density.</a:t>
            </a:r>
          </a:p>
          <a:p>
            <a:r>
              <a:rPr lang="en-US" sz="1200" kern="1200" dirty="0">
                <a:solidFill>
                  <a:schemeClr val="tx1"/>
                </a:solidFill>
                <a:effectLst/>
                <a:latin typeface="+mn-lt"/>
                <a:ea typeface="+mn-ea"/>
                <a:cs typeface="+mn-cs"/>
              </a:rPr>
              <a:t>The x-axis shows road density, and the y-axis shows average annual crash density. Each dot represents one census tract.</a:t>
            </a:r>
          </a:p>
          <a:p>
            <a:r>
              <a:rPr lang="en-US" sz="1200" kern="1200" dirty="0">
                <a:solidFill>
                  <a:schemeClr val="tx1"/>
                </a:solidFill>
                <a:effectLst/>
                <a:latin typeface="+mn-lt"/>
                <a:ea typeface="+mn-ea"/>
                <a:cs typeface="+mn-cs"/>
              </a:rPr>
              <a:t>The upward trend line suggests that higher road density is generally associated with higher crash density.</a:t>
            </a:r>
          </a:p>
          <a:p>
            <a:r>
              <a:rPr lang="en-US" sz="1200" kern="1200" dirty="0">
                <a:solidFill>
                  <a:schemeClr val="tx1"/>
                </a:solidFill>
                <a:effectLst/>
                <a:latin typeface="+mn-lt"/>
                <a:ea typeface="+mn-ea"/>
                <a:cs typeface="+mn-cs"/>
              </a:rPr>
              <a:t>The colors highlight high Black-share in blue and high Hispanic-share tracts in orange. These tracts appear within the broader roadway exposure pattern, rather than forming a completely separate pattern.</a:t>
            </a:r>
          </a:p>
          <a:p>
            <a:r>
              <a:rPr lang="en-US" sz="1200" kern="1200" dirty="0">
                <a:solidFill>
                  <a:schemeClr val="tx1"/>
                </a:solidFill>
                <a:effectLst/>
                <a:latin typeface="+mn-lt"/>
                <a:ea typeface="+mn-ea"/>
                <a:cs typeface="+mn-cs"/>
              </a:rPr>
              <a:t>So I would not say this chart proves a racial effect. What it shows is that road density is associated with crash density, and some higher Black-share and Hispanic-share tracts are located within that broader roadway exposure pattern.</a:t>
            </a:r>
          </a:p>
          <a:p>
            <a:endParaRPr lang="en-US" dirty="0"/>
          </a:p>
          <a:p>
            <a:r>
              <a:rPr lang="en-US" dirty="0"/>
              <a:t>Q/A:</a:t>
            </a:r>
          </a:p>
          <a:p>
            <a:r>
              <a:rPr lang="en-US" dirty="0"/>
              <a:t>There are a few outliers. The upper-right point has both high road density and high crash density, which may reflect a very dense urban roadway tract. The upper-left point is different because crash density is very high even though road density is not extremely high. That suggests road density alone does not fully explain crash concentration. It may be due to a small tract area, a localized crash hotspot, or a data/spatial-join issue, so it should be reviewed in diagnostics.</a:t>
            </a:r>
          </a:p>
        </p:txBody>
      </p:sp>
      <p:sp>
        <p:nvSpPr>
          <p:cNvPr id="4" name="Slide Number Placeholder 3"/>
          <p:cNvSpPr>
            <a:spLocks noGrp="1"/>
          </p:cNvSpPr>
          <p:nvPr>
            <p:ph type="sldNum" sz="quarter" idx="5"/>
          </p:nvPr>
        </p:nvSpPr>
        <p:spPr/>
        <p:txBody>
          <a:bodyPr/>
          <a:lstStyle/>
          <a:p>
            <a:fld id="{B8F01CE2-8EFC-784A-8697-B37CF2BED03A}" type="slidenum">
              <a:rPr lang="en-US" smtClean="0"/>
              <a:t>10</a:t>
            </a:fld>
            <a:endParaRPr lang="en-US"/>
          </a:p>
        </p:txBody>
      </p:sp>
    </p:spTree>
    <p:extLst>
      <p:ext uri="{BB962C8B-B14F-4D97-AF65-F5344CB8AC3E}">
        <p14:creationId xmlns:p14="http://schemas.microsoft.com/office/powerpoint/2010/main" val="1556957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demographic spatial patterns.</a:t>
            </a:r>
          </a:p>
          <a:p>
            <a:r>
              <a:rPr lang="en-US" dirty="0"/>
              <a:t>The maps show whether higher crash-density areas overlap with higher Black-share or higher Hispanic-share census tracts.</a:t>
            </a:r>
          </a:p>
          <a:p>
            <a:r>
              <a:rPr lang="en-US" dirty="0"/>
              <a:t>Darker colors indicate higher population share for the selected demographic group.</a:t>
            </a:r>
          </a:p>
          <a:p>
            <a:pPr marL="171450" indent="-171450">
              <a:buFont typeface="Arial" panose="020B0604020202020204" pitchFamily="34" charset="0"/>
              <a:buChar char="•"/>
            </a:pPr>
            <a:r>
              <a:rPr lang="en-US" dirty="0"/>
              <a:t>The map on the left indicates that higher Black-share tracts are more concentrated in eastern and southeastern DC, and some of these areas also show elevated crash density.</a:t>
            </a:r>
          </a:p>
          <a:p>
            <a:pPr marL="171450" indent="-171450">
              <a:buFont typeface="Arial" panose="020B0604020202020204" pitchFamily="34" charset="0"/>
              <a:buChar char="•"/>
            </a:pPr>
            <a:r>
              <a:rPr lang="en-US" dirty="0"/>
              <a:t>The map on the right indicates that Hispanic-share patterns are more spatially mixed.</a:t>
            </a:r>
          </a:p>
          <a:p>
            <a:r>
              <a:rPr lang="en-US" dirty="0"/>
              <a:t>So this slide helps frame the analysis as a spatial equity question, not just a traffic question.</a:t>
            </a:r>
          </a:p>
        </p:txBody>
      </p:sp>
      <p:sp>
        <p:nvSpPr>
          <p:cNvPr id="4" name="Slide Number Placeholder 3"/>
          <p:cNvSpPr>
            <a:spLocks noGrp="1"/>
          </p:cNvSpPr>
          <p:nvPr>
            <p:ph type="sldNum" sz="quarter" idx="5"/>
          </p:nvPr>
        </p:nvSpPr>
        <p:spPr/>
        <p:txBody>
          <a:bodyPr/>
          <a:lstStyle/>
          <a:p>
            <a:fld id="{B8F01CE2-8EFC-784A-8697-B37CF2BED03A}" type="slidenum">
              <a:rPr lang="en-US" smtClean="0"/>
              <a:t>11</a:t>
            </a:fld>
            <a:endParaRPr lang="en-US"/>
          </a:p>
        </p:txBody>
      </p:sp>
    </p:spTree>
    <p:extLst>
      <p:ext uri="{BB962C8B-B14F-4D97-AF65-F5344CB8AC3E}">
        <p14:creationId xmlns:p14="http://schemas.microsoft.com/office/powerpoint/2010/main" val="3164474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shows simple pairwise correlations between crash density, roadway variables, and demographic variables.</a:t>
            </a:r>
          </a:p>
          <a:p>
            <a:endParaRPr lang="en-US" dirty="0"/>
          </a:p>
          <a:p>
            <a:pPr marL="171450" indent="-171450">
              <a:buFont typeface="Arial" panose="020B0604020202020204" pitchFamily="34" charset="0"/>
              <a:buChar char="•"/>
            </a:pPr>
            <a:r>
              <a:rPr lang="en-US" dirty="0"/>
              <a:t>For example, road density has a correlation of about 0.60 with crash density, and signal density has a correlation of about 0.61 with crash density. These are among the strongest positive relationships in the heatmap, suggesting that roadway exposure matters.</a:t>
            </a:r>
          </a:p>
          <a:p>
            <a:pPr marL="171450" indent="-171450">
              <a:buFont typeface="Arial" panose="020B0604020202020204" pitchFamily="34" charset="0"/>
              <a:buChar char="•"/>
            </a:pPr>
            <a:r>
              <a:rPr lang="en-US" dirty="0"/>
              <a:t>By contrast, Black population share has almost no simple correlation with crash density, around 0.00, and Hispanic share is also very weak, around 0.03.</a:t>
            </a:r>
          </a:p>
          <a:p>
            <a:endParaRPr lang="en-US" dirty="0"/>
          </a:p>
          <a:p>
            <a:r>
              <a:rPr lang="en-US" dirty="0"/>
              <a:t>This is why simple correlation is not enough. Regression is needed to evaluate conditional relationships after controlling for roadway exposure and other variables.</a:t>
            </a:r>
          </a:p>
          <a:p>
            <a:r>
              <a:rPr lang="en-US" dirty="0"/>
              <a:t>The heatmap also shows that many roadway variables are correlated with each other, which supports using a smaller set of predictors in the regression model instead of including every roadway attribute.</a:t>
            </a:r>
          </a:p>
        </p:txBody>
      </p:sp>
      <p:sp>
        <p:nvSpPr>
          <p:cNvPr id="4" name="Slide Number Placeholder 3"/>
          <p:cNvSpPr>
            <a:spLocks noGrp="1"/>
          </p:cNvSpPr>
          <p:nvPr>
            <p:ph type="sldNum" sz="quarter" idx="5"/>
          </p:nvPr>
        </p:nvSpPr>
        <p:spPr/>
        <p:txBody>
          <a:bodyPr/>
          <a:lstStyle/>
          <a:p>
            <a:fld id="{B8F01CE2-8EFC-784A-8697-B37CF2BED03A}" type="slidenum">
              <a:rPr lang="en-US" smtClean="0"/>
              <a:t>12</a:t>
            </a:fld>
            <a:endParaRPr lang="en-US"/>
          </a:p>
        </p:txBody>
      </p:sp>
    </p:spTree>
    <p:extLst>
      <p:ext uri="{BB962C8B-B14F-4D97-AF65-F5344CB8AC3E}">
        <p14:creationId xmlns:p14="http://schemas.microsoft.com/office/powerpoint/2010/main" val="2656631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4042-D210-D4AA-D86F-6835BE4F5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2B6AC-BD5A-CA8C-C005-4847A2B48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81CA84-C8FF-08A0-5FD7-626D4A1B7E96}"/>
              </a:ext>
            </a:extLst>
          </p:cNvPr>
          <p:cNvSpPr>
            <a:spLocks noGrp="1"/>
          </p:cNvSpPr>
          <p:nvPr>
            <p:ph type="body" idx="1"/>
          </p:nvPr>
        </p:nvSpPr>
        <p:spPr/>
        <p:txBody>
          <a:bodyPr/>
          <a:lstStyle/>
          <a:p>
            <a:r>
              <a:rPr lang="en-US" dirty="0"/>
              <a:t>Before I show the regression results, I want to quickly explain the basic idea.</a:t>
            </a:r>
          </a:p>
          <a:p>
            <a:endParaRPr lang="en-US" dirty="0"/>
          </a:p>
          <a:p>
            <a:r>
              <a:rPr lang="en-US" dirty="0"/>
              <a:t>Regression is a way to estimate how different factors are related to an outcome.</a:t>
            </a:r>
          </a:p>
          <a:p>
            <a:endParaRPr lang="en-US" dirty="0"/>
          </a:p>
          <a:p>
            <a:r>
              <a:rPr lang="en-US" dirty="0"/>
              <a:t>Here, the outcome is expected crash counts. The factors include roadway exposure, like road density and signal density, and demographic context, like Black and Hispanic population share.</a:t>
            </a:r>
          </a:p>
          <a:p>
            <a:endParaRPr lang="en-US" dirty="0"/>
          </a:p>
          <a:p>
            <a:r>
              <a:rPr lang="en-US" dirty="0"/>
              <a:t>So instead of only asking “where are crashes higher,” the model helps ask: after accounting for roadway exposure and other factors, which variables are still associated with expected crash counts?</a:t>
            </a:r>
          </a:p>
          <a:p>
            <a:endParaRPr lang="en-US" dirty="0"/>
          </a:p>
        </p:txBody>
      </p:sp>
      <p:sp>
        <p:nvSpPr>
          <p:cNvPr id="4" name="Slide Number Placeholder 3">
            <a:extLst>
              <a:ext uri="{FF2B5EF4-FFF2-40B4-BE49-F238E27FC236}">
                <a16:creationId xmlns:a16="http://schemas.microsoft.com/office/drawing/2014/main" id="{226209D0-D7C4-8BF8-953D-E378C8039E49}"/>
              </a:ext>
            </a:extLst>
          </p:cNvPr>
          <p:cNvSpPr>
            <a:spLocks noGrp="1"/>
          </p:cNvSpPr>
          <p:nvPr>
            <p:ph type="sldNum" sz="quarter" idx="5"/>
          </p:nvPr>
        </p:nvSpPr>
        <p:spPr/>
        <p:txBody>
          <a:bodyPr/>
          <a:lstStyle/>
          <a:p>
            <a:fld id="{B8F01CE2-8EFC-784A-8697-B37CF2BED03A}" type="slidenum">
              <a:rPr lang="en-US" smtClean="0"/>
              <a:t>13</a:t>
            </a:fld>
            <a:endParaRPr lang="en-US"/>
          </a:p>
        </p:txBody>
      </p:sp>
    </p:spTree>
    <p:extLst>
      <p:ext uri="{BB962C8B-B14F-4D97-AF65-F5344CB8AC3E}">
        <p14:creationId xmlns:p14="http://schemas.microsoft.com/office/powerpoint/2010/main" val="659918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2AAA-0AAB-639C-274D-3ACE4AA3D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16EA6-CAA0-012F-A6B3-9B2010FAB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7B265-6E58-18EF-D7BA-7CCBDA643482}"/>
              </a:ext>
            </a:extLst>
          </p:cNvPr>
          <p:cNvSpPr>
            <a:spLocks noGrp="1"/>
          </p:cNvSpPr>
          <p:nvPr>
            <p:ph type="body" idx="1"/>
          </p:nvPr>
        </p:nvSpPr>
        <p:spPr/>
        <p:txBody>
          <a:bodyPr/>
          <a:lstStyle/>
          <a:p>
            <a:r>
              <a:rPr lang="en-US" dirty="0"/>
              <a:t>For modeling, I use Negative Binomial regression.</a:t>
            </a:r>
          </a:p>
          <a:p>
            <a:r>
              <a:rPr lang="en-US" dirty="0"/>
              <a:t>The reason is that crash counts are count data, and the data are </a:t>
            </a:r>
            <a:r>
              <a:rPr lang="en-US" dirty="0" err="1"/>
              <a:t>overdispersed</a:t>
            </a:r>
            <a:r>
              <a:rPr lang="en-US" dirty="0"/>
              <a:t>. The variance-to-mean ratio is about 7.62, which means the variance is much larger than the mean.</a:t>
            </a:r>
          </a:p>
          <a:p>
            <a:r>
              <a:rPr lang="en-US" dirty="0"/>
              <a:t>That makes Negative Binomial regression more appropriate than a simple Poisson model.</a:t>
            </a:r>
          </a:p>
          <a:p>
            <a:endParaRPr lang="en-US" dirty="0"/>
          </a:p>
          <a:p>
            <a:r>
              <a:rPr lang="en-US" dirty="0"/>
              <a:t>I built three models.</a:t>
            </a:r>
          </a:p>
          <a:p>
            <a:pPr marL="171450" indent="-171450">
              <a:buFont typeface="Arial" panose="020B0604020202020204" pitchFamily="34" charset="0"/>
              <a:buChar char="•"/>
            </a:pPr>
            <a:r>
              <a:rPr lang="en-US" dirty="0"/>
              <a:t>Model 1 includes roadway variables only. This is the baseline roadway environment model.</a:t>
            </a:r>
          </a:p>
          <a:p>
            <a:pPr marL="171450" indent="-171450">
              <a:buFont typeface="Arial" panose="020B0604020202020204" pitchFamily="34" charset="0"/>
              <a:buChar char="•"/>
            </a:pPr>
            <a:r>
              <a:rPr lang="en-US" dirty="0"/>
              <a:t>Model 2 adds Black and Hispanic population shares. This is my main model because it directly matches the project objective and gives the clearest balance between model fit and interpretation.</a:t>
            </a:r>
          </a:p>
          <a:p>
            <a:pPr marL="171450" indent="-171450">
              <a:buFont typeface="Arial" panose="020B0604020202020204" pitchFamily="34" charset="0"/>
              <a:buChar char="•"/>
            </a:pPr>
            <a:r>
              <a:rPr lang="en-US" dirty="0"/>
              <a:t>Model 3 adds interaction terms between roadway exposure and Black or Hispanic population share. This is more like an extension or robustness model. Compared with Model 2, the interaction terms were not statistically significant, so I do not use Model 3 </a:t>
            </a:r>
            <a:r>
              <a:rPr lang="en-US" b="0" dirty="0"/>
              <a:t>as</a:t>
            </a:r>
            <a:r>
              <a:rPr lang="en-US" dirty="0"/>
              <a:t> the main interpretation.</a:t>
            </a:r>
          </a:p>
          <a:p>
            <a:endParaRPr lang="en-US" dirty="0"/>
          </a:p>
        </p:txBody>
      </p:sp>
      <p:sp>
        <p:nvSpPr>
          <p:cNvPr id="4" name="Slide Number Placeholder 3">
            <a:extLst>
              <a:ext uri="{FF2B5EF4-FFF2-40B4-BE49-F238E27FC236}">
                <a16:creationId xmlns:a16="http://schemas.microsoft.com/office/drawing/2014/main" id="{8B2CDEB9-CE11-4AA3-F499-EE223E7DD097}"/>
              </a:ext>
            </a:extLst>
          </p:cNvPr>
          <p:cNvSpPr>
            <a:spLocks noGrp="1"/>
          </p:cNvSpPr>
          <p:nvPr>
            <p:ph type="sldNum" sz="quarter" idx="5"/>
          </p:nvPr>
        </p:nvSpPr>
        <p:spPr/>
        <p:txBody>
          <a:bodyPr/>
          <a:lstStyle/>
          <a:p>
            <a:fld id="{B8F01CE2-8EFC-784A-8697-B37CF2BED03A}" type="slidenum">
              <a:rPr lang="en-US" smtClean="0"/>
              <a:t>14</a:t>
            </a:fld>
            <a:endParaRPr lang="en-US"/>
          </a:p>
        </p:txBody>
      </p:sp>
    </p:spTree>
    <p:extLst>
      <p:ext uri="{BB962C8B-B14F-4D97-AF65-F5344CB8AC3E}">
        <p14:creationId xmlns:p14="http://schemas.microsoft.com/office/powerpoint/2010/main" val="4255501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D737-77ED-9E77-79D5-22956C165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CA9CA-4061-0D63-FFC9-C445F7B10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84F1C-5D1F-5F95-4F32-DC03D5D957A4}"/>
              </a:ext>
            </a:extLst>
          </p:cNvPr>
          <p:cNvSpPr>
            <a:spLocks noGrp="1"/>
          </p:cNvSpPr>
          <p:nvPr>
            <p:ph type="body" idx="1"/>
          </p:nvPr>
        </p:nvSpPr>
        <p:spPr/>
        <p:txBody>
          <a:bodyPr/>
          <a:lstStyle/>
          <a:p>
            <a:r>
              <a:rPr lang="en-US" dirty="0"/>
              <a:t>For the sake of time, I will focus on Model 2, which adds Black and Hispanic population shares to the roadway variables.</a:t>
            </a:r>
          </a:p>
          <a:p>
            <a:endParaRPr lang="en-US" dirty="0"/>
          </a:p>
          <a:p>
            <a:r>
              <a:rPr lang="en-US" dirty="0"/>
              <a:t>The main results are that road density and signal density are both positive and statistically significant. This means census tracts with denser roadway networks and more traffic signals tend to have higher expected crash counts.</a:t>
            </a:r>
          </a:p>
          <a:p>
            <a:endParaRPr lang="en-US" dirty="0"/>
          </a:p>
          <a:p>
            <a:r>
              <a:rPr lang="en-US" dirty="0"/>
              <a:t>Black population share is also positive and statistically significant after controlling for roadway exposure and other roadway characteristics. I interpret this carefully as a tract-level spatial equity finding, not as an individual-level causal effect.</a:t>
            </a:r>
          </a:p>
          <a:p>
            <a:endParaRPr lang="en-US" dirty="0"/>
          </a:p>
          <a:p>
            <a:r>
              <a:rPr lang="en-US" dirty="0"/>
              <a:t>Hispanic population share is not statistically significant in this model.</a:t>
            </a:r>
          </a:p>
          <a:p>
            <a:endParaRPr lang="en-US" dirty="0"/>
          </a:p>
          <a:p>
            <a:r>
              <a:rPr lang="en-US" dirty="0"/>
              <a:t>So the main takeaway from Model 2 is that roadway exposure matters, and higher Black-share tracts still show higher expected crash counts after roadway controls. However, the model does not show the same statistically significant relationship for Hispanic-share tracts.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also includes a log exposure offset to account for differences in census tract area, so the results are closer to comparing crash concentration rather than raw crash counts only.</a:t>
            </a:r>
          </a:p>
          <a:p>
            <a:endParaRPr lang="en-US" dirty="0"/>
          </a:p>
        </p:txBody>
      </p:sp>
      <p:sp>
        <p:nvSpPr>
          <p:cNvPr id="4" name="Slide Number Placeholder 3">
            <a:extLst>
              <a:ext uri="{FF2B5EF4-FFF2-40B4-BE49-F238E27FC236}">
                <a16:creationId xmlns:a16="http://schemas.microsoft.com/office/drawing/2014/main" id="{3A93BF29-DF43-4D62-34C9-E5EE9AF6D796}"/>
              </a:ext>
            </a:extLst>
          </p:cNvPr>
          <p:cNvSpPr>
            <a:spLocks noGrp="1"/>
          </p:cNvSpPr>
          <p:nvPr>
            <p:ph type="sldNum" sz="quarter" idx="5"/>
          </p:nvPr>
        </p:nvSpPr>
        <p:spPr/>
        <p:txBody>
          <a:bodyPr/>
          <a:lstStyle/>
          <a:p>
            <a:fld id="{B8F01CE2-8EFC-784A-8697-B37CF2BED03A}" type="slidenum">
              <a:rPr lang="en-US" smtClean="0"/>
              <a:t>15</a:t>
            </a:fld>
            <a:endParaRPr lang="en-US"/>
          </a:p>
        </p:txBody>
      </p:sp>
    </p:spTree>
    <p:extLst>
      <p:ext uri="{BB962C8B-B14F-4D97-AF65-F5344CB8AC3E}">
        <p14:creationId xmlns:p14="http://schemas.microsoft.com/office/powerpoint/2010/main" val="478568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have not completed all diagnostics yet, so this slide is a planned validation checklist.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checks will help confirm whether the model is reasonably specified and whether the results are stable, rather than being driven by unstable variables or poor model fit.</a:t>
            </a:r>
          </a:p>
        </p:txBody>
      </p:sp>
      <p:sp>
        <p:nvSpPr>
          <p:cNvPr id="4" name="Slide Number Placeholder 3"/>
          <p:cNvSpPr>
            <a:spLocks noGrp="1"/>
          </p:cNvSpPr>
          <p:nvPr>
            <p:ph type="sldNum" sz="quarter" idx="5"/>
          </p:nvPr>
        </p:nvSpPr>
        <p:spPr/>
        <p:txBody>
          <a:bodyPr/>
          <a:lstStyle/>
          <a:p>
            <a:fld id="{B8F01CE2-8EFC-784A-8697-B37CF2BED03A}" type="slidenum">
              <a:rPr lang="en-US" smtClean="0"/>
              <a:t>16</a:t>
            </a:fld>
            <a:endParaRPr lang="en-US"/>
          </a:p>
        </p:txBody>
      </p:sp>
    </p:spTree>
    <p:extLst>
      <p:ext uri="{BB962C8B-B14F-4D97-AF65-F5344CB8AC3E}">
        <p14:creationId xmlns:p14="http://schemas.microsoft.com/office/powerpoint/2010/main" val="263673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several important limitations.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dirty="0"/>
              <a:t>This is a tract-level association study, not a causal analysis. The model shows relationships across census tracts, but it does not prove that roadway exposure or demographic context directly causes crashes.</a:t>
            </a:r>
          </a:p>
          <a:p>
            <a:pPr marL="171450" indent="-171450">
              <a:buFont typeface="Arial" panose="020B0604020202020204" pitchFamily="34" charset="0"/>
              <a:buChar char="•"/>
            </a:pPr>
            <a:r>
              <a:rPr lang="en-US" dirty="0"/>
              <a:t>Crash data is used as a proxy for insurance claim-risk exposure. This project does not use actual insurance claims or policy-level data, so the results should be interpreted as crash-risk context rather than direct insurance pricing evidence.</a:t>
            </a:r>
          </a:p>
          <a:p>
            <a:pPr marL="171450" indent="-171450">
              <a:buFont typeface="Arial" panose="020B0604020202020204" pitchFamily="34" charset="0"/>
              <a:buChar char="•"/>
            </a:pPr>
            <a:r>
              <a:rPr lang="en-US" dirty="0"/>
              <a:t>The expected balanced panel is 206 census tracts over 60 months. Some expected tract-month combinations were missing and treated as zero-crash months. This is a reasonable working assumption, but it should be confirmed with DDOT or MPD.</a:t>
            </a:r>
          </a:p>
          <a:p>
            <a:pPr marL="171450" indent="-171450">
              <a:buFont typeface="Arial" panose="020B0604020202020204" pitchFamily="34" charset="0"/>
              <a:buChar char="•"/>
            </a:pPr>
            <a:r>
              <a:rPr lang="en-US" dirty="0"/>
              <a:t>Another limitation is that roadway and demographic variables are mostly static, synthetic, or modeled at the tract level, while crash counts vary monthly. So the model may not fully capture monthly changes in traffic patterns, construction, events, or local activity.</a:t>
            </a:r>
          </a:p>
          <a:p>
            <a:pPr marL="171450" indent="-171450">
              <a:buFont typeface="Arial" panose="020B0604020202020204" pitchFamily="34" charset="0"/>
              <a:buChar char="•"/>
            </a:pPr>
            <a:r>
              <a:rPr lang="en-US" dirty="0"/>
              <a:t>These results should not be interpreted as individual-level risk differences. The demographic variables describe census tract context, not individual drivers.</a:t>
            </a:r>
          </a:p>
          <a:p>
            <a:endParaRPr lang="en-US" dirty="0"/>
          </a:p>
          <a:p>
            <a:r>
              <a:rPr lang="en-US" dirty="0"/>
              <a:t>Overall, the final takeaway is that roadway exposure matters, and higher Black-share tracts show higher expected crash counts after controls. However, the model does not find strong evidence of a Hispanic-share effect or an amplified roadway exposure effect by Black or Hispanic share.</a:t>
            </a:r>
          </a:p>
        </p:txBody>
      </p:sp>
      <p:sp>
        <p:nvSpPr>
          <p:cNvPr id="4" name="Slide Number Placeholder 3"/>
          <p:cNvSpPr>
            <a:spLocks noGrp="1"/>
          </p:cNvSpPr>
          <p:nvPr>
            <p:ph type="sldNum" sz="quarter" idx="5"/>
          </p:nvPr>
        </p:nvSpPr>
        <p:spPr/>
        <p:txBody>
          <a:bodyPr/>
          <a:lstStyle/>
          <a:p>
            <a:fld id="{B8F01CE2-8EFC-784A-8697-B37CF2BED03A}" type="slidenum">
              <a:rPr lang="en-US" smtClean="0"/>
              <a:t>17</a:t>
            </a:fld>
            <a:endParaRPr lang="en-US"/>
          </a:p>
        </p:txBody>
      </p:sp>
    </p:spTree>
    <p:extLst>
      <p:ext uri="{BB962C8B-B14F-4D97-AF65-F5344CB8AC3E}">
        <p14:creationId xmlns:p14="http://schemas.microsoft.com/office/powerpoint/2010/main" val="512288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3092-E299-8921-BCE4-581E88BB2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2AB25-3138-534B-0591-681AB7A0E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441E7-FE4B-C4D1-350A-31E14662EA03}"/>
              </a:ext>
            </a:extLst>
          </p:cNvPr>
          <p:cNvSpPr>
            <a:spLocks noGrp="1"/>
          </p:cNvSpPr>
          <p:nvPr>
            <p:ph type="body" idx="1"/>
          </p:nvPr>
        </p:nvSpPr>
        <p:spPr/>
        <p:txBody>
          <a:bodyPr/>
          <a:lstStyle/>
          <a:p>
            <a:r>
              <a:rPr lang="en-US" dirty="0"/>
              <a:t>As a next step, I would add land use and zoning context to the dataset.</a:t>
            </a:r>
          </a:p>
          <a:p>
            <a:endParaRPr lang="en-US" dirty="0"/>
          </a:p>
          <a:p>
            <a:r>
              <a:rPr lang="en-US" dirty="0"/>
              <a:t>Roadway exposure tells us where roadway infrastructure exists, but land use and zoning help explain where traffic activity is generated.</a:t>
            </a:r>
          </a:p>
          <a:p>
            <a:endParaRPr lang="en-US" dirty="0"/>
          </a:p>
          <a:p>
            <a:r>
              <a:rPr lang="en-US" dirty="0"/>
              <a:t>For example, commercial areas, employment centers, schools, and transit stations may naturally attract more vehicles and pedestrians.</a:t>
            </a:r>
          </a:p>
          <a:p>
            <a:endParaRPr lang="en-US" dirty="0"/>
          </a:p>
          <a:p>
            <a:r>
              <a:rPr lang="en-US" dirty="0"/>
              <a:t>So adding these variables would help separate roadway infrastructure effects from broader local traffic patterns.</a:t>
            </a:r>
          </a:p>
        </p:txBody>
      </p:sp>
      <p:sp>
        <p:nvSpPr>
          <p:cNvPr id="4" name="Slide Number Placeholder 3">
            <a:extLst>
              <a:ext uri="{FF2B5EF4-FFF2-40B4-BE49-F238E27FC236}">
                <a16:creationId xmlns:a16="http://schemas.microsoft.com/office/drawing/2014/main" id="{617FA8EB-00E1-1AA0-D16E-12FCD9EE3B8D}"/>
              </a:ext>
            </a:extLst>
          </p:cNvPr>
          <p:cNvSpPr>
            <a:spLocks noGrp="1"/>
          </p:cNvSpPr>
          <p:nvPr>
            <p:ph type="sldNum" sz="quarter" idx="5"/>
          </p:nvPr>
        </p:nvSpPr>
        <p:spPr/>
        <p:txBody>
          <a:bodyPr/>
          <a:lstStyle/>
          <a:p>
            <a:fld id="{B8F01CE2-8EFC-784A-8697-B37CF2BED03A}" type="slidenum">
              <a:rPr lang="en-US" smtClean="0"/>
              <a:t>18</a:t>
            </a:fld>
            <a:endParaRPr lang="en-US"/>
          </a:p>
        </p:txBody>
      </p:sp>
    </p:spTree>
    <p:extLst>
      <p:ext uri="{BB962C8B-B14F-4D97-AF65-F5344CB8AC3E}">
        <p14:creationId xmlns:p14="http://schemas.microsoft.com/office/powerpoint/2010/main" val="205928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A1C9-EC6E-BD98-282A-C7C03B24BE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173D04-F6F2-D48B-891A-61BC788CE1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9F8922-2161-ECFE-FABF-29FC1F635A11}"/>
              </a:ext>
            </a:extLst>
          </p:cNvPr>
          <p:cNvSpPr>
            <a:spLocks noGrp="1"/>
          </p:cNvSpPr>
          <p:nvPr>
            <p:ph type="dt" sz="half" idx="10"/>
          </p:nvPr>
        </p:nvSpPr>
        <p:spPr/>
        <p:txBody>
          <a:bodyPr/>
          <a:lstStyle/>
          <a:p>
            <a:fld id="{35C9C130-C92D-8B4D-91C2-9C3B1A6828BF}" type="datetime1">
              <a:rPr lang="en-US" smtClean="0"/>
              <a:t>6/28/26</a:t>
            </a:fld>
            <a:endParaRPr lang="en-US"/>
          </a:p>
        </p:txBody>
      </p:sp>
      <p:sp>
        <p:nvSpPr>
          <p:cNvPr id="5" name="Footer Placeholder 4">
            <a:extLst>
              <a:ext uri="{FF2B5EF4-FFF2-40B4-BE49-F238E27FC236}">
                <a16:creationId xmlns:a16="http://schemas.microsoft.com/office/drawing/2014/main" id="{C0C672C4-4DEF-6729-55CF-F17EAC021E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99E6E-ECC4-4722-A4C4-A8964184A073}"/>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1989143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4AD8A-86B1-2E71-D513-FA32EA70FF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9B7816-BC65-D332-7356-C0C595CA2F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4FEEE-FE5F-13B9-05AD-C4622D280DFE}"/>
              </a:ext>
            </a:extLst>
          </p:cNvPr>
          <p:cNvSpPr>
            <a:spLocks noGrp="1"/>
          </p:cNvSpPr>
          <p:nvPr>
            <p:ph type="dt" sz="half" idx="10"/>
          </p:nvPr>
        </p:nvSpPr>
        <p:spPr/>
        <p:txBody>
          <a:bodyPr/>
          <a:lstStyle/>
          <a:p>
            <a:fld id="{BD9BF19B-8482-EA46-8DA2-DE6602B80DAC}" type="datetime1">
              <a:rPr lang="en-US" smtClean="0"/>
              <a:t>6/28/26</a:t>
            </a:fld>
            <a:endParaRPr lang="en-US"/>
          </a:p>
        </p:txBody>
      </p:sp>
      <p:sp>
        <p:nvSpPr>
          <p:cNvPr id="5" name="Footer Placeholder 4">
            <a:extLst>
              <a:ext uri="{FF2B5EF4-FFF2-40B4-BE49-F238E27FC236}">
                <a16:creationId xmlns:a16="http://schemas.microsoft.com/office/drawing/2014/main" id="{8BE198B5-9586-6011-AA37-1179771D4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1513C4-E5B4-769D-3402-3EF2F6CD2F79}"/>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166022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99E01-4743-48F8-7D94-29BAC86E22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C84EA-E358-3D3D-D0E2-1636361E5C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804D0C-F0F3-E3E2-F195-469AD6F0B930}"/>
              </a:ext>
            </a:extLst>
          </p:cNvPr>
          <p:cNvSpPr>
            <a:spLocks noGrp="1"/>
          </p:cNvSpPr>
          <p:nvPr>
            <p:ph type="dt" sz="half" idx="10"/>
          </p:nvPr>
        </p:nvSpPr>
        <p:spPr/>
        <p:txBody>
          <a:bodyPr/>
          <a:lstStyle/>
          <a:p>
            <a:fld id="{F4E952F4-B2A9-3F40-8044-843716874B1D}" type="datetime1">
              <a:rPr lang="en-US" smtClean="0"/>
              <a:t>6/28/26</a:t>
            </a:fld>
            <a:endParaRPr lang="en-US"/>
          </a:p>
        </p:txBody>
      </p:sp>
      <p:sp>
        <p:nvSpPr>
          <p:cNvPr id="5" name="Footer Placeholder 4">
            <a:extLst>
              <a:ext uri="{FF2B5EF4-FFF2-40B4-BE49-F238E27FC236}">
                <a16:creationId xmlns:a16="http://schemas.microsoft.com/office/drawing/2014/main" id="{1B68A8BB-3564-C828-5D1B-940EDC1D5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9975F-EB62-D86A-1CDB-672394EFAD6F}"/>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255934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FDAA5-C821-B8AE-6399-465ADE636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78A3C1-7C2E-5569-08A7-4B0735065C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667DF9-D939-2056-80D0-F7C18F2D63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8CB73D-E1D9-A879-DCAB-7D9CA3F32C02}"/>
              </a:ext>
            </a:extLst>
          </p:cNvPr>
          <p:cNvSpPr>
            <a:spLocks noGrp="1"/>
          </p:cNvSpPr>
          <p:nvPr>
            <p:ph type="dt" sz="half" idx="10"/>
          </p:nvPr>
        </p:nvSpPr>
        <p:spPr/>
        <p:txBody>
          <a:bodyPr/>
          <a:lstStyle/>
          <a:p>
            <a:fld id="{F31AD21F-6179-C543-8EEC-D4FE05D124B1}" type="datetime1">
              <a:rPr lang="en-US" smtClean="0"/>
              <a:t>6/28/26</a:t>
            </a:fld>
            <a:endParaRPr lang="en-US"/>
          </a:p>
        </p:txBody>
      </p:sp>
      <p:sp>
        <p:nvSpPr>
          <p:cNvPr id="6" name="Footer Placeholder 5">
            <a:extLst>
              <a:ext uri="{FF2B5EF4-FFF2-40B4-BE49-F238E27FC236}">
                <a16:creationId xmlns:a16="http://schemas.microsoft.com/office/drawing/2014/main" id="{8ABE5A41-9EC4-7960-5F28-8326E31C5D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A0C501-D3F5-598F-908A-EA756EF6D6B9}"/>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1558115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4B80-042E-E6CA-62AD-053C6F8D48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283751-5B1C-42E4-ED4D-786D7DC99A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754EC2-5127-415E-1517-C32F7C393C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0A39E4-98E5-45E5-4063-AD612F394B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71FE47-BE2D-17F4-D690-78AB758C5D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B0E020-EBB8-92FB-226B-B29C86EDFACF}"/>
              </a:ext>
            </a:extLst>
          </p:cNvPr>
          <p:cNvSpPr>
            <a:spLocks noGrp="1"/>
          </p:cNvSpPr>
          <p:nvPr>
            <p:ph type="dt" sz="half" idx="10"/>
          </p:nvPr>
        </p:nvSpPr>
        <p:spPr/>
        <p:txBody>
          <a:bodyPr/>
          <a:lstStyle/>
          <a:p>
            <a:fld id="{D45C1706-A123-2444-8332-BA05E003C1CF}" type="datetime1">
              <a:rPr lang="en-US" smtClean="0"/>
              <a:t>6/28/26</a:t>
            </a:fld>
            <a:endParaRPr lang="en-US"/>
          </a:p>
        </p:txBody>
      </p:sp>
      <p:sp>
        <p:nvSpPr>
          <p:cNvPr id="8" name="Footer Placeholder 7">
            <a:extLst>
              <a:ext uri="{FF2B5EF4-FFF2-40B4-BE49-F238E27FC236}">
                <a16:creationId xmlns:a16="http://schemas.microsoft.com/office/drawing/2014/main" id="{2F3B2AE2-BA2D-B082-EE52-6CA5C1FB3C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EADD6E-08B4-FF24-26BB-2B82D56F0DBD}"/>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2441292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C29EA-288E-A934-0C99-8AFE022078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52E678-CF43-B687-2525-BFA7BE1E9AFF}"/>
              </a:ext>
            </a:extLst>
          </p:cNvPr>
          <p:cNvSpPr>
            <a:spLocks noGrp="1"/>
          </p:cNvSpPr>
          <p:nvPr>
            <p:ph type="dt" sz="half" idx="10"/>
          </p:nvPr>
        </p:nvSpPr>
        <p:spPr/>
        <p:txBody>
          <a:bodyPr/>
          <a:lstStyle/>
          <a:p>
            <a:fld id="{2DB530FB-7155-3944-BC73-39E889DAAE9D}" type="datetime1">
              <a:rPr lang="en-US" smtClean="0"/>
              <a:t>6/28/26</a:t>
            </a:fld>
            <a:endParaRPr lang="en-US"/>
          </a:p>
        </p:txBody>
      </p:sp>
      <p:sp>
        <p:nvSpPr>
          <p:cNvPr id="4" name="Footer Placeholder 3">
            <a:extLst>
              <a:ext uri="{FF2B5EF4-FFF2-40B4-BE49-F238E27FC236}">
                <a16:creationId xmlns:a16="http://schemas.microsoft.com/office/drawing/2014/main" id="{C225BEE2-2E26-8599-1D74-A3A3ACD588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A533FC-3DCB-8BCD-D502-0A0E158A521B}"/>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3160824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31895A-A35E-BC82-48FF-B4C8CAE222DE}"/>
              </a:ext>
            </a:extLst>
          </p:cNvPr>
          <p:cNvSpPr>
            <a:spLocks noGrp="1"/>
          </p:cNvSpPr>
          <p:nvPr>
            <p:ph type="dt" sz="half" idx="10"/>
          </p:nvPr>
        </p:nvSpPr>
        <p:spPr/>
        <p:txBody>
          <a:bodyPr/>
          <a:lstStyle/>
          <a:p>
            <a:fld id="{1185BA2B-7098-4F4A-AE3B-038FED96CEC4}" type="datetime1">
              <a:rPr lang="en-US" smtClean="0"/>
              <a:t>6/28/26</a:t>
            </a:fld>
            <a:endParaRPr lang="en-US"/>
          </a:p>
        </p:txBody>
      </p:sp>
      <p:sp>
        <p:nvSpPr>
          <p:cNvPr id="3" name="Footer Placeholder 2">
            <a:extLst>
              <a:ext uri="{FF2B5EF4-FFF2-40B4-BE49-F238E27FC236}">
                <a16:creationId xmlns:a16="http://schemas.microsoft.com/office/drawing/2014/main" id="{0E030B17-7E81-024A-98A6-BE5D161116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9A531B-C467-5238-7C7B-5E8A35745576}"/>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3658452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3F86-323E-25B0-C978-6B9C1EBE0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71E461-6E05-9129-7460-769A6611B3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5A81CB-030E-BF15-72DC-CB021DB4B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D7EFF-76E1-220E-D7E9-6163E5388866}"/>
              </a:ext>
            </a:extLst>
          </p:cNvPr>
          <p:cNvSpPr>
            <a:spLocks noGrp="1"/>
          </p:cNvSpPr>
          <p:nvPr>
            <p:ph type="dt" sz="half" idx="10"/>
          </p:nvPr>
        </p:nvSpPr>
        <p:spPr/>
        <p:txBody>
          <a:bodyPr/>
          <a:lstStyle/>
          <a:p>
            <a:fld id="{4ABCE290-6776-B243-B057-533F159F6AB4}" type="datetime1">
              <a:rPr lang="en-US" smtClean="0"/>
              <a:t>6/28/26</a:t>
            </a:fld>
            <a:endParaRPr lang="en-US"/>
          </a:p>
        </p:txBody>
      </p:sp>
      <p:sp>
        <p:nvSpPr>
          <p:cNvPr id="6" name="Footer Placeholder 5">
            <a:extLst>
              <a:ext uri="{FF2B5EF4-FFF2-40B4-BE49-F238E27FC236}">
                <a16:creationId xmlns:a16="http://schemas.microsoft.com/office/drawing/2014/main" id="{5D681726-8C55-5461-D564-C9AE668402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2BE257-726B-2BE9-3276-3AE65AEE27D6}"/>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2546626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7B276-08FB-0F6C-4A22-7F916C0B8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2D1521-34B8-D4E6-8EF4-2D7EAB437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29D7D6-3E1B-48D0-4E63-453EFBC2B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6B911-9C0B-0F31-F0FA-30E224E648E6}"/>
              </a:ext>
            </a:extLst>
          </p:cNvPr>
          <p:cNvSpPr>
            <a:spLocks noGrp="1"/>
          </p:cNvSpPr>
          <p:nvPr>
            <p:ph type="dt" sz="half" idx="10"/>
          </p:nvPr>
        </p:nvSpPr>
        <p:spPr/>
        <p:txBody>
          <a:bodyPr/>
          <a:lstStyle/>
          <a:p>
            <a:fld id="{9074B933-E5C2-3F47-B6FA-FF920E98CD43}" type="datetime1">
              <a:rPr lang="en-US" smtClean="0"/>
              <a:t>6/28/26</a:t>
            </a:fld>
            <a:endParaRPr lang="en-US"/>
          </a:p>
        </p:txBody>
      </p:sp>
      <p:sp>
        <p:nvSpPr>
          <p:cNvPr id="6" name="Footer Placeholder 5">
            <a:extLst>
              <a:ext uri="{FF2B5EF4-FFF2-40B4-BE49-F238E27FC236}">
                <a16:creationId xmlns:a16="http://schemas.microsoft.com/office/drawing/2014/main" id="{F92B1E15-9AD5-C0B7-F24B-7861C32AAB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6CAB1A-8FFF-3353-846D-C4B1909A1E0B}"/>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139185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6A00E-44C0-96B3-6534-B22540FB23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392347-5E3E-6452-C3FE-49865BDE32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2ECFD-0D97-73FF-40AE-E0F28039556F}"/>
              </a:ext>
            </a:extLst>
          </p:cNvPr>
          <p:cNvSpPr>
            <a:spLocks noGrp="1"/>
          </p:cNvSpPr>
          <p:nvPr>
            <p:ph type="dt" sz="half" idx="10"/>
          </p:nvPr>
        </p:nvSpPr>
        <p:spPr/>
        <p:txBody>
          <a:bodyPr/>
          <a:lstStyle/>
          <a:p>
            <a:fld id="{69C3C67E-6602-554F-8E82-BB2D1A1262CD}" type="datetime1">
              <a:rPr lang="en-US" smtClean="0"/>
              <a:t>6/28/26</a:t>
            </a:fld>
            <a:endParaRPr lang="en-US"/>
          </a:p>
        </p:txBody>
      </p:sp>
      <p:sp>
        <p:nvSpPr>
          <p:cNvPr id="5" name="Footer Placeholder 4">
            <a:extLst>
              <a:ext uri="{FF2B5EF4-FFF2-40B4-BE49-F238E27FC236}">
                <a16:creationId xmlns:a16="http://schemas.microsoft.com/office/drawing/2014/main" id="{EC230313-B758-E0A6-377E-32D048526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67430-DA0F-4A9F-6865-02D412F0120F}"/>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1761482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E30C54-4BDC-B3F4-C3A1-556F8575E3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998619-CD58-0EF8-E377-CBF0DCDE23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BB2EBF-110B-090C-0EFF-C25178F541AF}"/>
              </a:ext>
            </a:extLst>
          </p:cNvPr>
          <p:cNvSpPr>
            <a:spLocks noGrp="1"/>
          </p:cNvSpPr>
          <p:nvPr>
            <p:ph type="dt" sz="half" idx="10"/>
          </p:nvPr>
        </p:nvSpPr>
        <p:spPr/>
        <p:txBody>
          <a:bodyPr/>
          <a:lstStyle/>
          <a:p>
            <a:fld id="{95941BB9-2CB6-5148-9E32-4D907AE9464F}" type="datetime1">
              <a:rPr lang="en-US" smtClean="0"/>
              <a:t>6/28/26</a:t>
            </a:fld>
            <a:endParaRPr lang="en-US"/>
          </a:p>
        </p:txBody>
      </p:sp>
      <p:sp>
        <p:nvSpPr>
          <p:cNvPr id="5" name="Footer Placeholder 4">
            <a:extLst>
              <a:ext uri="{FF2B5EF4-FFF2-40B4-BE49-F238E27FC236}">
                <a16:creationId xmlns:a16="http://schemas.microsoft.com/office/drawing/2014/main" id="{9B46B56F-BBB9-4333-FD1D-BB7DE0CEE2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7D863-A4E4-D38C-EF47-0178C53D13A7}"/>
              </a:ext>
            </a:extLst>
          </p:cNvPr>
          <p:cNvSpPr>
            <a:spLocks noGrp="1"/>
          </p:cNvSpPr>
          <p:nvPr>
            <p:ph type="sldNum" sz="quarter" idx="12"/>
          </p:nvPr>
        </p:nvSpPr>
        <p:spPr/>
        <p:txBody>
          <a:bodyPr/>
          <a:lstStyle/>
          <a:p>
            <a:fld id="{C9E9CA6D-21B0-DC40-B670-34B7FF5C511E}" type="slidenum">
              <a:rPr lang="en-US" smtClean="0"/>
              <a:t>‹#›</a:t>
            </a:fld>
            <a:endParaRPr lang="en-US"/>
          </a:p>
        </p:txBody>
      </p:sp>
    </p:spTree>
    <p:extLst>
      <p:ext uri="{BB962C8B-B14F-4D97-AF65-F5344CB8AC3E}">
        <p14:creationId xmlns:p14="http://schemas.microsoft.com/office/powerpoint/2010/main" val="4081475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D259DE-3241-3A35-5B8F-7A906A01A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14159A-7357-F3AA-57E1-872A716201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21B7E-00E5-3203-7F7B-CEB176D6B5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2ADD35-3BB7-BB44-8548-25A14C4F441E}" type="datetime1">
              <a:rPr lang="en-US" smtClean="0"/>
              <a:t>6/28/26</a:t>
            </a:fld>
            <a:endParaRPr lang="en-US"/>
          </a:p>
        </p:txBody>
      </p:sp>
      <p:sp>
        <p:nvSpPr>
          <p:cNvPr id="5" name="Footer Placeholder 4">
            <a:extLst>
              <a:ext uri="{FF2B5EF4-FFF2-40B4-BE49-F238E27FC236}">
                <a16:creationId xmlns:a16="http://schemas.microsoft.com/office/drawing/2014/main" id="{AF94C511-D385-8E44-456C-18AF4337D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5581E3-47A9-5E67-F475-23AA404FB4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E9CA6D-21B0-DC40-B670-34B7FF5C511E}" type="slidenum">
              <a:rPr lang="en-US" smtClean="0"/>
              <a:t>‹#›</a:t>
            </a:fld>
            <a:endParaRPr lang="en-US"/>
          </a:p>
        </p:txBody>
      </p:sp>
    </p:spTree>
    <p:extLst>
      <p:ext uri="{BB962C8B-B14F-4D97-AF65-F5344CB8AC3E}">
        <p14:creationId xmlns:p14="http://schemas.microsoft.com/office/powerpoint/2010/main" val="793274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opendata.dc.gov/datasets/DCGIS::crashes-in-dc/about" TargetMode="External"/><Relationship Id="rId7" Type="http://schemas.openxmlformats.org/officeDocument/2006/relationships/hyperlink" Target="https://opendata.dc.gov/datasets/DCGIS::traffic-signal/abou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opendata.dc.gov/datasets/14eb2dba76ad4359bb3ed70068e35231_160/explore?location=38.902559%2C-77.011898%2C12" TargetMode="External"/><Relationship Id="rId5" Type="http://schemas.openxmlformats.org/officeDocument/2006/relationships/hyperlink" Target="https://opendata.dc.gov/datasets/roadway-block/about" TargetMode="External"/><Relationship Id="rId4" Type="http://schemas.openxmlformats.org/officeDocument/2006/relationships/hyperlink" Target="https://opendata.dc.gov/datasets/DCGIS::census-tracts-in-2020/abou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Downtown Parks Master Plan: Transportation Planning in DC - Wells +  Associates">
            <a:extLst>
              <a:ext uri="{FF2B5EF4-FFF2-40B4-BE49-F238E27FC236}">
                <a16:creationId xmlns:a16="http://schemas.microsoft.com/office/drawing/2014/main" id="{2BEB54DC-71D8-CD52-3573-4FE60D04F50E}"/>
              </a:ext>
            </a:extLst>
          </p:cNvPr>
          <p:cNvPicPr>
            <a:picLocks noChangeAspect="1"/>
          </p:cNvPicPr>
          <p:nvPr/>
        </p:nvPicPr>
        <p:blipFill>
          <a:blip r:embed="rId3">
            <a:alphaModFix amt="50000"/>
          </a:blip>
          <a:srcRect t="25000"/>
          <a:stretch>
            <a:fillRect/>
          </a:stretch>
        </p:blipFill>
        <p:spPr>
          <a:xfrm>
            <a:off x="20" y="1"/>
            <a:ext cx="12191980" cy="6857999"/>
          </a:xfrm>
          <a:prstGeom prst="rect">
            <a:avLst/>
          </a:prstGeom>
        </p:spPr>
      </p:pic>
      <p:sp>
        <p:nvSpPr>
          <p:cNvPr id="11" name="Rectangle 10">
            <a:extLst>
              <a:ext uri="{FF2B5EF4-FFF2-40B4-BE49-F238E27FC236}">
                <a16:creationId xmlns:a16="http://schemas.microsoft.com/office/drawing/2014/main" id="{E71F5ADA-568F-3ED7-10C4-8CD4EA02DE97}"/>
              </a:ext>
            </a:extLst>
          </p:cNvPr>
          <p:cNvSpPr/>
          <p:nvPr/>
        </p:nvSpPr>
        <p:spPr>
          <a:xfrm>
            <a:off x="0" y="0"/>
            <a:ext cx="12192000" cy="6858000"/>
          </a:xfrm>
          <a:prstGeom prst="rect">
            <a:avLst/>
          </a:prstGeom>
          <a:solidFill>
            <a:schemeClr val="accent1">
              <a:lumMod val="7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accent1">
                    <a:shade val="15000"/>
                  </a:schemeClr>
                </a:solidFill>
              </a:ln>
              <a:effectLst>
                <a:outerShdw blurRad="50800" dist="50800" dir="5400000" algn="ctr" rotWithShape="0">
                  <a:srgbClr val="000000"/>
                </a:outerShdw>
              </a:effectLst>
            </a:endParaRPr>
          </a:p>
        </p:txBody>
      </p:sp>
      <p:sp>
        <p:nvSpPr>
          <p:cNvPr id="9" name="TextBox 8">
            <a:extLst>
              <a:ext uri="{FF2B5EF4-FFF2-40B4-BE49-F238E27FC236}">
                <a16:creationId xmlns:a16="http://schemas.microsoft.com/office/drawing/2014/main" id="{C0B2A100-E746-8B06-33F6-19AF12243626}"/>
              </a:ext>
            </a:extLst>
          </p:cNvPr>
          <p:cNvSpPr txBox="1"/>
          <p:nvPr/>
        </p:nvSpPr>
        <p:spPr>
          <a:xfrm>
            <a:off x="3050005" y="3003702"/>
            <a:ext cx="6100010" cy="369332"/>
          </a:xfrm>
          <a:prstGeom prst="rect">
            <a:avLst/>
          </a:prstGeom>
          <a:noFill/>
        </p:spPr>
        <p:txBody>
          <a:bodyPr wrap="square">
            <a:spAutoFit/>
          </a:bodyPr>
          <a:lstStyle/>
          <a:p>
            <a:endParaRPr lang="en-US">
              <a:effectLst>
                <a:outerShdw blurRad="50800" dist="50800" dir="5400000" algn="ctr" rotWithShape="0">
                  <a:srgbClr val="000000"/>
                </a:outerShdw>
              </a:effectLst>
            </a:endParaRPr>
          </a:p>
        </p:txBody>
      </p:sp>
      <p:sp>
        <p:nvSpPr>
          <p:cNvPr id="16" name="Slide Number Placeholder 15">
            <a:extLst>
              <a:ext uri="{FF2B5EF4-FFF2-40B4-BE49-F238E27FC236}">
                <a16:creationId xmlns:a16="http://schemas.microsoft.com/office/drawing/2014/main" id="{99A86FC1-5812-EAAC-E911-96A874249E02}"/>
              </a:ext>
            </a:extLst>
          </p:cNvPr>
          <p:cNvSpPr>
            <a:spLocks noGrp="1"/>
          </p:cNvSpPr>
          <p:nvPr>
            <p:ph type="sldNum" sz="quarter" idx="12"/>
          </p:nvPr>
        </p:nvSpPr>
        <p:spPr/>
        <p:txBody>
          <a:bodyPr/>
          <a:lstStyle/>
          <a:p>
            <a:fld id="{C9E9CA6D-21B0-DC40-B670-34B7FF5C511E}" type="slidenum">
              <a:rPr lang="en-US" smtClean="0">
                <a:effectLst>
                  <a:outerShdw blurRad="50800" dist="50800" dir="5400000" algn="ctr" rotWithShape="0">
                    <a:srgbClr val="000000"/>
                  </a:outerShdw>
                </a:effectLst>
              </a:rPr>
              <a:t>1</a:t>
            </a:fld>
            <a:endParaRPr lang="en-US">
              <a:effectLst>
                <a:outerShdw blurRad="50800" dist="50800" dir="5400000" algn="ctr" rotWithShape="0">
                  <a:srgbClr val="000000"/>
                </a:outerShdw>
              </a:effectLst>
            </a:endParaRPr>
          </a:p>
        </p:txBody>
      </p:sp>
      <p:sp>
        <p:nvSpPr>
          <p:cNvPr id="2" name="Title 1">
            <a:extLst>
              <a:ext uri="{FF2B5EF4-FFF2-40B4-BE49-F238E27FC236}">
                <a16:creationId xmlns:a16="http://schemas.microsoft.com/office/drawing/2014/main" id="{8E2D6346-CA3E-53CE-2905-7A2CBF54AFE6}"/>
              </a:ext>
            </a:extLst>
          </p:cNvPr>
          <p:cNvSpPr>
            <a:spLocks noGrp="1"/>
          </p:cNvSpPr>
          <p:nvPr>
            <p:ph type="ctrTitle"/>
          </p:nvPr>
        </p:nvSpPr>
        <p:spPr>
          <a:xfrm>
            <a:off x="1524000" y="1153316"/>
            <a:ext cx="9144000" cy="2900518"/>
          </a:xfrm>
        </p:spPr>
        <p:txBody>
          <a:bodyPr>
            <a:normAutofit/>
          </a:bodyPr>
          <a:lstStyle/>
          <a:p>
            <a:r>
              <a:rPr lang="en-US" sz="4200" b="1">
                <a:effectLst>
                  <a:outerShdw blurRad="50800" dist="50800" dir="5400000" algn="ctr" rotWithShape="0">
                    <a:srgbClr val="000000"/>
                  </a:outerShdw>
                </a:effectLst>
              </a:rPr>
              <a:t>Beyond Premium Gaps: Roadway Exposure, Crash Concentration, and Spatial Equity in DC Auto Insurance</a:t>
            </a:r>
            <a:br>
              <a:rPr lang="en-US" sz="4200" b="1">
                <a:effectLst>
                  <a:outerShdw blurRad="50800" dist="50800" dir="5400000" algn="ctr" rotWithShape="0">
                    <a:srgbClr val="000000"/>
                  </a:outerShdw>
                </a:effectLst>
              </a:rPr>
            </a:br>
            <a:endParaRPr lang="en-US" sz="4200">
              <a:effectLst>
                <a:outerShdw blurRad="50800" dist="50800" dir="5400000" algn="ctr" rotWithShape="0">
                  <a:srgbClr val="000000"/>
                </a:outerShdw>
              </a:effectLst>
            </a:endParaRPr>
          </a:p>
        </p:txBody>
      </p:sp>
      <p:sp>
        <p:nvSpPr>
          <p:cNvPr id="3" name="Subtitle 2">
            <a:extLst>
              <a:ext uri="{FF2B5EF4-FFF2-40B4-BE49-F238E27FC236}">
                <a16:creationId xmlns:a16="http://schemas.microsoft.com/office/drawing/2014/main" id="{CAB0E904-BD36-A470-D746-3034E9934FB7}"/>
              </a:ext>
            </a:extLst>
          </p:cNvPr>
          <p:cNvSpPr>
            <a:spLocks noGrp="1"/>
          </p:cNvSpPr>
          <p:nvPr>
            <p:ph type="subTitle" idx="1"/>
          </p:nvPr>
        </p:nvSpPr>
        <p:spPr>
          <a:xfrm>
            <a:off x="1524000" y="4066099"/>
            <a:ext cx="9144000" cy="1098395"/>
          </a:xfrm>
        </p:spPr>
        <p:txBody>
          <a:bodyPr>
            <a:normAutofit/>
          </a:bodyPr>
          <a:lstStyle/>
          <a:p>
            <a:r>
              <a:rPr lang="en-US" dirty="0">
                <a:effectLst>
                  <a:outerShdw blurRad="50800" dist="50800" dir="5400000" algn="ctr" rotWithShape="0">
                    <a:srgbClr val="000000"/>
                  </a:outerShdw>
                </a:effectLst>
              </a:rPr>
              <a:t>A Geospatial Analysis of Roadway Infrastructure, Crash Risk Exposure, and Demographic Context in Washington, DC</a:t>
            </a:r>
          </a:p>
        </p:txBody>
      </p:sp>
      <p:pic>
        <p:nvPicPr>
          <p:cNvPr id="12" name="Picture 11" descr="Verify Licensed Insurers | disb">
            <a:extLst>
              <a:ext uri="{FF2B5EF4-FFF2-40B4-BE49-F238E27FC236}">
                <a16:creationId xmlns:a16="http://schemas.microsoft.com/office/drawing/2014/main" id="{558BF082-6E87-570F-5244-3BE09352A6C1}"/>
              </a:ext>
            </a:extLst>
          </p:cNvPr>
          <p:cNvPicPr>
            <a:picLocks noChangeAspect="1"/>
          </p:cNvPicPr>
          <p:nvPr/>
        </p:nvPicPr>
        <p:blipFill>
          <a:blip r:embed="rId4"/>
          <a:stretch>
            <a:fillRect/>
          </a:stretch>
        </p:blipFill>
        <p:spPr>
          <a:xfrm>
            <a:off x="538703" y="5695372"/>
            <a:ext cx="1177036" cy="725054"/>
          </a:xfrm>
          <a:prstGeom prst="rect">
            <a:avLst/>
          </a:prstGeom>
        </p:spPr>
      </p:pic>
    </p:spTree>
    <p:extLst>
      <p:ext uri="{BB962C8B-B14F-4D97-AF65-F5344CB8AC3E}">
        <p14:creationId xmlns:p14="http://schemas.microsoft.com/office/powerpoint/2010/main" val="336247178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4C5492-BE95-60A4-11DB-B8D8D3D0DD2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89F937-17C5-C9E7-2F3E-DF804B127ABB}"/>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Project Objective</a:t>
            </a:r>
          </a:p>
        </p:txBody>
      </p:sp>
      <p:sp>
        <p:nvSpPr>
          <p:cNvPr id="3" name="Content Placeholder 2">
            <a:extLst>
              <a:ext uri="{FF2B5EF4-FFF2-40B4-BE49-F238E27FC236}">
                <a16:creationId xmlns:a16="http://schemas.microsoft.com/office/drawing/2014/main" id="{4816189C-AECC-56C4-3DCB-C83271230844}"/>
              </a:ext>
            </a:extLst>
          </p:cNvPr>
          <p:cNvSpPr>
            <a:spLocks noGrp="1"/>
          </p:cNvSpPr>
          <p:nvPr>
            <p:ph idx="1"/>
          </p:nvPr>
        </p:nvSpPr>
        <p:spPr>
          <a:xfrm>
            <a:off x="4810259" y="649480"/>
            <a:ext cx="6555347" cy="5546047"/>
          </a:xfrm>
        </p:spPr>
        <p:txBody>
          <a:bodyPr anchor="ctr">
            <a:normAutofit/>
          </a:bodyPr>
          <a:lstStyle/>
          <a:p>
            <a:r>
              <a:rPr lang="en-US" sz="2400" dirty="0"/>
              <a:t>Examines whether roadway conditions and roadway characteristics are associated with crash concentration in Washington, DC</a:t>
            </a:r>
            <a:r>
              <a:rPr lang="en-US" sz="2400" dirty="0">
                <a:effectLst/>
              </a:rPr>
              <a:t> </a:t>
            </a:r>
          </a:p>
          <a:p>
            <a:r>
              <a:rPr lang="en-US" sz="2400" dirty="0"/>
              <a:t>Whether high-crash areas spatially overlap with census tracts that have higher Black or Hispanic population shares</a:t>
            </a:r>
            <a:r>
              <a:rPr lang="en-US" sz="2400" dirty="0">
                <a:effectLst/>
              </a:rPr>
              <a:t> </a:t>
            </a:r>
            <a:endParaRPr lang="en-US" sz="2400" dirty="0"/>
          </a:p>
        </p:txBody>
      </p:sp>
      <p:sp>
        <p:nvSpPr>
          <p:cNvPr id="5" name="Slide Number Placeholder 4">
            <a:extLst>
              <a:ext uri="{FF2B5EF4-FFF2-40B4-BE49-F238E27FC236}">
                <a16:creationId xmlns:a16="http://schemas.microsoft.com/office/drawing/2014/main" id="{751AAF7F-69F0-0FEC-5292-5A571B428119}"/>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2</a:t>
            </a:fld>
            <a:endParaRPr lang="en-US" sz="1100">
              <a:solidFill>
                <a:schemeClr val="tx1">
                  <a:lumMod val="50000"/>
                  <a:lumOff val="50000"/>
                </a:schemeClr>
              </a:solidFill>
            </a:endParaRPr>
          </a:p>
        </p:txBody>
      </p:sp>
      <p:pic>
        <p:nvPicPr>
          <p:cNvPr id="6" name="Picture 5" descr="Verify Licensed Insurers | disb">
            <a:extLst>
              <a:ext uri="{FF2B5EF4-FFF2-40B4-BE49-F238E27FC236}">
                <a16:creationId xmlns:a16="http://schemas.microsoft.com/office/drawing/2014/main" id="{ABCC7076-1ACA-0CE4-2C0B-C09031699214}"/>
              </a:ext>
            </a:extLst>
          </p:cNvPr>
          <p:cNvPicPr>
            <a:picLocks noChangeAspect="1"/>
          </p:cNvPicPr>
          <p:nvPr/>
        </p:nvPicPr>
        <p:blipFill>
          <a:blip r:embed="rId3"/>
          <a:stretch>
            <a:fillRect/>
          </a:stretch>
        </p:blipFill>
        <p:spPr>
          <a:xfrm>
            <a:off x="466722" y="5607005"/>
            <a:ext cx="1177036" cy="725054"/>
          </a:xfrm>
          <a:prstGeom prst="rect">
            <a:avLst/>
          </a:prstGeom>
        </p:spPr>
      </p:pic>
    </p:spTree>
    <p:extLst>
      <p:ext uri="{BB962C8B-B14F-4D97-AF65-F5344CB8AC3E}">
        <p14:creationId xmlns:p14="http://schemas.microsoft.com/office/powerpoint/2010/main" val="36966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04CC10-707E-DA47-0528-4DA6AB68BC18}"/>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F437A9-1BA2-00FD-560B-DED411FE7632}"/>
              </a:ext>
            </a:extLst>
          </p:cNvPr>
          <p:cNvSpPr>
            <a:spLocks noGrp="1"/>
          </p:cNvSpPr>
          <p:nvPr>
            <p:ph type="title"/>
          </p:nvPr>
        </p:nvSpPr>
        <p:spPr>
          <a:xfrm>
            <a:off x="1136397" y="502020"/>
            <a:ext cx="5323715" cy="1642970"/>
          </a:xfrm>
        </p:spPr>
        <p:txBody>
          <a:bodyPr anchor="b">
            <a:normAutofit/>
          </a:bodyPr>
          <a:lstStyle/>
          <a:p>
            <a:r>
              <a:rPr lang="en-US" sz="4000"/>
              <a:t>Connection to Auto Insurance Bias Context</a:t>
            </a:r>
            <a:r>
              <a:rPr lang="en-US" sz="4000">
                <a:effectLst/>
              </a:rPr>
              <a:t> </a:t>
            </a:r>
            <a:endParaRPr lang="en-US" sz="4000"/>
          </a:p>
        </p:txBody>
      </p:sp>
      <p:sp>
        <p:nvSpPr>
          <p:cNvPr id="3" name="Content Placeholder 2">
            <a:extLst>
              <a:ext uri="{FF2B5EF4-FFF2-40B4-BE49-F238E27FC236}">
                <a16:creationId xmlns:a16="http://schemas.microsoft.com/office/drawing/2014/main" id="{F7F6144C-EC7C-A58F-A1E7-6BDBDAEE61E5}"/>
              </a:ext>
            </a:extLst>
          </p:cNvPr>
          <p:cNvSpPr>
            <a:spLocks noGrp="1"/>
          </p:cNvSpPr>
          <p:nvPr>
            <p:ph idx="1"/>
          </p:nvPr>
        </p:nvSpPr>
        <p:spPr>
          <a:xfrm>
            <a:off x="1144923" y="2405894"/>
            <a:ext cx="5315189" cy="3535083"/>
          </a:xfrm>
        </p:spPr>
        <p:txBody>
          <a:bodyPr anchor="t">
            <a:normAutofit/>
          </a:bodyPr>
          <a:lstStyle/>
          <a:p>
            <a:r>
              <a:rPr lang="en-US" sz="2000" b="1" dirty="0"/>
              <a:t>DISB Report:</a:t>
            </a:r>
            <a:r>
              <a:rPr lang="en-US" sz="2000" dirty="0"/>
              <a:t> premium gap / pricing fairness</a:t>
            </a:r>
          </a:p>
          <a:p>
            <a:r>
              <a:rPr lang="en-US" sz="2000" b="1" dirty="0"/>
              <a:t>This Project:</a:t>
            </a:r>
            <a:r>
              <a:rPr lang="en-US" sz="2000" dirty="0"/>
              <a:t> roadway exposure / crash concentration / spatial context</a:t>
            </a:r>
          </a:p>
          <a:p>
            <a:r>
              <a:rPr lang="en-US" sz="2000" dirty="0"/>
              <a:t>This project does not directly test insurance pricing bias. Instead, it provides geographic context by examining whether roadway exposure and crash concentration vary across communities, and whether high-crash areas spatially overlap with census tracts that have higher Black or Hispanic population shares</a:t>
            </a:r>
            <a:r>
              <a:rPr lang="en-US" sz="2000" dirty="0">
                <a:effectLst/>
              </a:rPr>
              <a:t> </a:t>
            </a:r>
            <a:endParaRPr lang="en-US" sz="2000" dirty="0"/>
          </a:p>
          <a:p>
            <a:endParaRPr lang="en-US" sz="2000" dirty="0"/>
          </a:p>
        </p:txBody>
      </p:sp>
      <p:sp>
        <p:nvSpPr>
          <p:cNvPr id="63" name="Rectangle 6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DA2A4ACF-CB8E-8889-CB7B-22F88801A4D8}"/>
              </a:ext>
            </a:extLst>
          </p:cNvPr>
          <p:cNvSpPr>
            <a:spLocks noGrp="1"/>
          </p:cNvSpPr>
          <p:nvPr>
            <p:ph type="sldNum" sz="quarter" idx="12"/>
          </p:nvPr>
        </p:nvSpPr>
        <p:spPr>
          <a:xfrm>
            <a:off x="11704320" y="6459378"/>
            <a:ext cx="448056" cy="365125"/>
          </a:xfrm>
        </p:spPr>
        <p:txBody>
          <a:bodyPr>
            <a:normAutofit/>
          </a:bodyPr>
          <a:lstStyle/>
          <a:p>
            <a:pPr>
              <a:spcAft>
                <a:spcPts val="600"/>
              </a:spcAft>
            </a:pPr>
            <a:fld id="{C9E9CA6D-21B0-DC40-B670-34B7FF5C511E}" type="slidenum">
              <a:rPr lang="en-US" sz="1100">
                <a:solidFill>
                  <a:srgbClr val="FFFFFF"/>
                </a:solidFill>
              </a:rPr>
              <a:pPr>
                <a:spcAft>
                  <a:spcPts val="600"/>
                </a:spcAft>
              </a:pPr>
              <a:t>3</a:t>
            </a:fld>
            <a:endParaRPr lang="en-US" sz="1100">
              <a:solidFill>
                <a:srgbClr val="FFFFFF"/>
              </a:solidFill>
            </a:endParaRPr>
          </a:p>
        </p:txBody>
      </p:sp>
      <p:pic>
        <p:nvPicPr>
          <p:cNvPr id="6" name="Picture 5" descr="Verify Licensed Insurers | disb">
            <a:extLst>
              <a:ext uri="{FF2B5EF4-FFF2-40B4-BE49-F238E27FC236}">
                <a16:creationId xmlns:a16="http://schemas.microsoft.com/office/drawing/2014/main" id="{9A02D424-83F4-B14B-6696-F835BE9518A5}"/>
              </a:ext>
            </a:extLst>
          </p:cNvPr>
          <p:cNvPicPr>
            <a:picLocks noChangeAspect="1"/>
          </p:cNvPicPr>
          <p:nvPr/>
        </p:nvPicPr>
        <p:blipFill>
          <a:blip r:embed="rId3"/>
          <a:stretch>
            <a:fillRect/>
          </a:stretch>
        </p:blipFill>
        <p:spPr>
          <a:xfrm>
            <a:off x="575210" y="5734862"/>
            <a:ext cx="1177036" cy="725054"/>
          </a:xfrm>
          <a:prstGeom prst="rect">
            <a:avLst/>
          </a:prstGeom>
        </p:spPr>
      </p:pic>
      <p:graphicFrame>
        <p:nvGraphicFramePr>
          <p:cNvPr id="4" name="Table 3">
            <a:extLst>
              <a:ext uri="{FF2B5EF4-FFF2-40B4-BE49-F238E27FC236}">
                <a16:creationId xmlns:a16="http://schemas.microsoft.com/office/drawing/2014/main" id="{D33329C6-A3C9-6D6F-DCE1-30F4D0A0355C}"/>
              </a:ext>
            </a:extLst>
          </p:cNvPr>
          <p:cNvGraphicFramePr>
            <a:graphicFrameLocks noGrp="1"/>
          </p:cNvGraphicFramePr>
          <p:nvPr>
            <p:extLst>
              <p:ext uri="{D42A27DB-BD31-4B8C-83A1-F6EECF244321}">
                <p14:modId xmlns:p14="http://schemas.microsoft.com/office/powerpoint/2010/main" val="1329250307"/>
              </p:ext>
            </p:extLst>
          </p:nvPr>
        </p:nvGraphicFramePr>
        <p:xfrm>
          <a:off x="7075967" y="2093625"/>
          <a:ext cx="4170532" cy="2702646"/>
        </p:xfrm>
        <a:graphic>
          <a:graphicData uri="http://schemas.openxmlformats.org/drawingml/2006/table">
            <a:tbl>
              <a:tblPr firstRow="1" bandRow="1">
                <a:tableStyleId>{5C22544A-7EE6-4342-B048-85BDC9FD1C3A}</a:tableStyleId>
              </a:tblPr>
              <a:tblGrid>
                <a:gridCol w="1602268">
                  <a:extLst>
                    <a:ext uri="{9D8B030D-6E8A-4147-A177-3AD203B41FA5}">
                      <a16:colId xmlns:a16="http://schemas.microsoft.com/office/drawing/2014/main" val="2378583467"/>
                    </a:ext>
                  </a:extLst>
                </a:gridCol>
                <a:gridCol w="1358427">
                  <a:extLst>
                    <a:ext uri="{9D8B030D-6E8A-4147-A177-3AD203B41FA5}">
                      <a16:colId xmlns:a16="http://schemas.microsoft.com/office/drawing/2014/main" val="2673487235"/>
                    </a:ext>
                  </a:extLst>
                </a:gridCol>
                <a:gridCol w="1209837">
                  <a:extLst>
                    <a:ext uri="{9D8B030D-6E8A-4147-A177-3AD203B41FA5}">
                      <a16:colId xmlns:a16="http://schemas.microsoft.com/office/drawing/2014/main" val="4285397968"/>
                    </a:ext>
                  </a:extLst>
                </a:gridCol>
              </a:tblGrid>
              <a:tr h="569790">
                <a:tc>
                  <a:txBody>
                    <a:bodyPr/>
                    <a:lstStyle/>
                    <a:p>
                      <a:r>
                        <a:rPr lang="en-US" sz="1400" dirty="0"/>
                        <a:t>Group</a:t>
                      </a:r>
                    </a:p>
                  </a:txBody>
                  <a:tcPr marL="125999" marR="125999" marT="62999" marB="62999"/>
                </a:tc>
                <a:tc>
                  <a:txBody>
                    <a:bodyPr/>
                    <a:lstStyle/>
                    <a:p>
                      <a:r>
                        <a:rPr lang="en-US" sz="1400"/>
                        <a:t>Avg. Annual Premium</a:t>
                      </a:r>
                    </a:p>
                  </a:txBody>
                  <a:tcPr marL="125999" marR="125999" marT="62999" marB="62999"/>
                </a:tc>
                <a:tc>
                  <a:txBody>
                    <a:bodyPr/>
                    <a:lstStyle/>
                    <a:p>
                      <a:r>
                        <a:rPr lang="en-US" sz="1400" dirty="0"/>
                        <a:t>% Higher than White</a:t>
                      </a:r>
                    </a:p>
                  </a:txBody>
                  <a:tcPr marL="125999" marR="125999" marT="62999" marB="62999"/>
                </a:tc>
                <a:extLst>
                  <a:ext uri="{0D108BD9-81ED-4DB2-BD59-A6C34878D82A}">
                    <a16:rowId xmlns:a16="http://schemas.microsoft.com/office/drawing/2014/main" val="2416543761"/>
                  </a:ext>
                </a:extLst>
              </a:tr>
              <a:tr h="533214">
                <a:tc>
                  <a:txBody>
                    <a:bodyPr/>
                    <a:lstStyle/>
                    <a:p>
                      <a:r>
                        <a:rPr lang="en-US" sz="2500"/>
                        <a:t>White</a:t>
                      </a:r>
                    </a:p>
                  </a:txBody>
                  <a:tcPr marL="125999" marR="125999" marT="62999" marB="62999"/>
                </a:tc>
                <a:tc>
                  <a:txBody>
                    <a:bodyPr/>
                    <a:lstStyle/>
                    <a:p>
                      <a:pPr algn="r"/>
                      <a:r>
                        <a:rPr lang="en-US" sz="2500" dirty="0"/>
                        <a:t>$705</a:t>
                      </a:r>
                    </a:p>
                  </a:txBody>
                  <a:tcPr marL="125999" marR="125999" marT="62999" marB="62999"/>
                </a:tc>
                <a:tc>
                  <a:txBody>
                    <a:bodyPr/>
                    <a:lstStyle/>
                    <a:p>
                      <a:pPr algn="r"/>
                      <a:r>
                        <a:rPr lang="en-US" sz="2500"/>
                        <a:t>Ref</a:t>
                      </a:r>
                    </a:p>
                  </a:txBody>
                  <a:tcPr marL="125999" marR="125999" marT="62999" marB="62999"/>
                </a:tc>
                <a:extLst>
                  <a:ext uri="{0D108BD9-81ED-4DB2-BD59-A6C34878D82A}">
                    <a16:rowId xmlns:a16="http://schemas.microsoft.com/office/drawing/2014/main" val="402510589"/>
                  </a:ext>
                </a:extLst>
              </a:tr>
              <a:tr h="533214">
                <a:tc>
                  <a:txBody>
                    <a:bodyPr/>
                    <a:lstStyle/>
                    <a:p>
                      <a:r>
                        <a:rPr lang="en-US" sz="2500"/>
                        <a:t>Asian</a:t>
                      </a:r>
                    </a:p>
                  </a:txBody>
                  <a:tcPr marL="125999" marR="125999" marT="62999" marB="62999"/>
                </a:tc>
                <a:tc>
                  <a:txBody>
                    <a:bodyPr/>
                    <a:lstStyle/>
                    <a:p>
                      <a:pPr algn="r"/>
                      <a:r>
                        <a:rPr lang="en-US" sz="2500"/>
                        <a:t>$722</a:t>
                      </a:r>
                    </a:p>
                  </a:txBody>
                  <a:tcPr marL="125999" marR="125999" marT="62999" marB="62999"/>
                </a:tc>
                <a:tc>
                  <a:txBody>
                    <a:bodyPr/>
                    <a:lstStyle/>
                    <a:p>
                      <a:pPr algn="r"/>
                      <a:r>
                        <a:rPr lang="en-US" sz="2500"/>
                        <a:t>+2%</a:t>
                      </a:r>
                    </a:p>
                  </a:txBody>
                  <a:tcPr marL="125999" marR="125999" marT="62999" marB="62999"/>
                </a:tc>
                <a:extLst>
                  <a:ext uri="{0D108BD9-81ED-4DB2-BD59-A6C34878D82A}">
                    <a16:rowId xmlns:a16="http://schemas.microsoft.com/office/drawing/2014/main" val="2703433857"/>
                  </a:ext>
                </a:extLst>
              </a:tr>
              <a:tr h="533214">
                <a:tc>
                  <a:txBody>
                    <a:bodyPr/>
                    <a:lstStyle/>
                    <a:p>
                      <a:r>
                        <a:rPr lang="en-US" sz="2500"/>
                        <a:t>Hispanic</a:t>
                      </a:r>
                    </a:p>
                  </a:txBody>
                  <a:tcPr marL="125999" marR="125999" marT="62999" marB="62999"/>
                </a:tc>
                <a:tc>
                  <a:txBody>
                    <a:bodyPr/>
                    <a:lstStyle/>
                    <a:p>
                      <a:pPr algn="r"/>
                      <a:r>
                        <a:rPr lang="en-US" sz="2500"/>
                        <a:t>$849</a:t>
                      </a:r>
                    </a:p>
                  </a:txBody>
                  <a:tcPr marL="125999" marR="125999" marT="62999" marB="62999"/>
                </a:tc>
                <a:tc>
                  <a:txBody>
                    <a:bodyPr/>
                    <a:lstStyle/>
                    <a:p>
                      <a:pPr algn="r"/>
                      <a:r>
                        <a:rPr lang="en-US" sz="2500"/>
                        <a:t>+20%</a:t>
                      </a:r>
                    </a:p>
                  </a:txBody>
                  <a:tcPr marL="125999" marR="125999" marT="62999" marB="62999"/>
                </a:tc>
                <a:extLst>
                  <a:ext uri="{0D108BD9-81ED-4DB2-BD59-A6C34878D82A}">
                    <a16:rowId xmlns:a16="http://schemas.microsoft.com/office/drawing/2014/main" val="2266234711"/>
                  </a:ext>
                </a:extLst>
              </a:tr>
              <a:tr h="533214">
                <a:tc>
                  <a:txBody>
                    <a:bodyPr/>
                    <a:lstStyle/>
                    <a:p>
                      <a:r>
                        <a:rPr lang="en-US" sz="2500"/>
                        <a:t>Black</a:t>
                      </a:r>
                    </a:p>
                  </a:txBody>
                  <a:tcPr marL="125999" marR="125999" marT="62999" marB="62999"/>
                </a:tc>
                <a:tc>
                  <a:txBody>
                    <a:bodyPr/>
                    <a:lstStyle/>
                    <a:p>
                      <a:pPr algn="r"/>
                      <a:r>
                        <a:rPr lang="en-US" sz="2500" dirty="0"/>
                        <a:t>$1,031</a:t>
                      </a:r>
                    </a:p>
                  </a:txBody>
                  <a:tcPr marL="125999" marR="125999" marT="62999" marB="62999"/>
                </a:tc>
                <a:tc>
                  <a:txBody>
                    <a:bodyPr/>
                    <a:lstStyle/>
                    <a:p>
                      <a:pPr algn="r"/>
                      <a:r>
                        <a:rPr lang="en-US" sz="2500" dirty="0"/>
                        <a:t>+46%</a:t>
                      </a:r>
                    </a:p>
                  </a:txBody>
                  <a:tcPr marL="125999" marR="125999" marT="62999" marB="62999"/>
                </a:tc>
                <a:extLst>
                  <a:ext uri="{0D108BD9-81ED-4DB2-BD59-A6C34878D82A}">
                    <a16:rowId xmlns:a16="http://schemas.microsoft.com/office/drawing/2014/main" val="608294586"/>
                  </a:ext>
                </a:extLst>
              </a:tr>
            </a:tbl>
          </a:graphicData>
        </a:graphic>
      </p:graphicFrame>
      <p:sp>
        <p:nvSpPr>
          <p:cNvPr id="9" name="TextBox 8">
            <a:extLst>
              <a:ext uri="{FF2B5EF4-FFF2-40B4-BE49-F238E27FC236}">
                <a16:creationId xmlns:a16="http://schemas.microsoft.com/office/drawing/2014/main" id="{E08CD7E5-E6F1-C170-2114-22156950F18C}"/>
              </a:ext>
            </a:extLst>
          </p:cNvPr>
          <p:cNvSpPr txBox="1"/>
          <p:nvPr/>
        </p:nvSpPr>
        <p:spPr>
          <a:xfrm>
            <a:off x="8229600" y="5057175"/>
            <a:ext cx="3016899" cy="646331"/>
          </a:xfrm>
          <a:prstGeom prst="rect">
            <a:avLst/>
          </a:prstGeom>
          <a:noFill/>
        </p:spPr>
        <p:txBody>
          <a:bodyPr wrap="square">
            <a:spAutoFit/>
          </a:bodyPr>
          <a:lstStyle/>
          <a:p>
            <a:r>
              <a:rPr lang="en-US" sz="1200" dirty="0">
                <a:solidFill>
                  <a:schemeClr val="bg2"/>
                </a:solidFill>
              </a:rPr>
              <a:t>Source: DISB Unintentional Bias Report, 2019–2021 insurer data call; BIFSG-inferred race.</a:t>
            </a:r>
          </a:p>
        </p:txBody>
      </p:sp>
    </p:spTree>
    <p:extLst>
      <p:ext uri="{BB962C8B-B14F-4D97-AF65-F5344CB8AC3E}">
        <p14:creationId xmlns:p14="http://schemas.microsoft.com/office/powerpoint/2010/main" val="78430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FF5C37-04F0-2361-062E-5B453F690808}"/>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E4A286-CFBA-B388-DA22-FD8099FC937E}"/>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Executive Summary</a:t>
            </a:r>
          </a:p>
        </p:txBody>
      </p:sp>
      <p:sp>
        <p:nvSpPr>
          <p:cNvPr id="5" name="Slide Number Placeholder 4">
            <a:extLst>
              <a:ext uri="{FF2B5EF4-FFF2-40B4-BE49-F238E27FC236}">
                <a16:creationId xmlns:a16="http://schemas.microsoft.com/office/drawing/2014/main" id="{2F6ED35F-84E4-989D-98A0-FE5F583B2975}"/>
              </a:ext>
            </a:extLst>
          </p:cNvPr>
          <p:cNvSpPr>
            <a:spLocks noGrp="1"/>
          </p:cNvSpPr>
          <p:nvPr>
            <p:ph type="sldNum" sz="quarter" idx="12"/>
          </p:nvPr>
        </p:nvSpPr>
        <p:spPr>
          <a:xfrm>
            <a:off x="11704320" y="6455664"/>
            <a:ext cx="448056" cy="365125"/>
          </a:xfrm>
        </p:spPr>
        <p:txBody>
          <a:bodyPr vert="horz" lIns="91440" tIns="45720" rIns="91440" bIns="45720" rtlCol="0">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4</a:t>
            </a:fld>
            <a:endParaRPr lang="en-US" sz="1100">
              <a:solidFill>
                <a:schemeClr val="tx1">
                  <a:lumMod val="50000"/>
                  <a:lumOff val="50000"/>
                </a:schemeClr>
              </a:solidFill>
            </a:endParaRPr>
          </a:p>
        </p:txBody>
      </p:sp>
      <p:pic>
        <p:nvPicPr>
          <p:cNvPr id="6" name="Picture 5" descr="Verify Licensed Insurers | disb">
            <a:extLst>
              <a:ext uri="{FF2B5EF4-FFF2-40B4-BE49-F238E27FC236}">
                <a16:creationId xmlns:a16="http://schemas.microsoft.com/office/drawing/2014/main" id="{0970571B-5CD7-61AC-8B42-0225D5556213}"/>
              </a:ext>
            </a:extLst>
          </p:cNvPr>
          <p:cNvPicPr>
            <a:picLocks noChangeAspect="1"/>
          </p:cNvPicPr>
          <p:nvPr/>
        </p:nvPicPr>
        <p:blipFill>
          <a:blip r:embed="rId3"/>
          <a:stretch>
            <a:fillRect/>
          </a:stretch>
        </p:blipFill>
        <p:spPr>
          <a:xfrm>
            <a:off x="10382878" y="412034"/>
            <a:ext cx="1177036" cy="725054"/>
          </a:xfrm>
          <a:prstGeom prst="rect">
            <a:avLst/>
          </a:prstGeom>
        </p:spPr>
      </p:pic>
      <p:graphicFrame>
        <p:nvGraphicFramePr>
          <p:cNvPr id="32" name="Content Placeholder 2">
            <a:extLst>
              <a:ext uri="{FF2B5EF4-FFF2-40B4-BE49-F238E27FC236}">
                <a16:creationId xmlns:a16="http://schemas.microsoft.com/office/drawing/2014/main" id="{5C3AB0BB-EEC7-B0A9-8BF9-22F6EFD98D83}"/>
              </a:ext>
            </a:extLst>
          </p:cNvPr>
          <p:cNvGraphicFramePr>
            <a:graphicFrameLocks noGrp="1"/>
          </p:cNvGraphicFramePr>
          <p:nvPr>
            <p:ph idx="1"/>
            <p:extLst>
              <p:ext uri="{D42A27DB-BD31-4B8C-83A1-F6EECF244321}">
                <p14:modId xmlns:p14="http://schemas.microsoft.com/office/powerpoint/2010/main" val="502617085"/>
              </p:ext>
            </p:extLst>
          </p:nvPr>
        </p:nvGraphicFramePr>
        <p:xfrm>
          <a:off x="632085" y="2295723"/>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2758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1F1CFF-8373-E88F-FAC4-405C529B173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4E4B35-4319-63BE-C468-72B9126A922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Data Sources</a:t>
            </a:r>
          </a:p>
        </p:txBody>
      </p:sp>
      <p:sp>
        <p:nvSpPr>
          <p:cNvPr id="19" name="Content Placeholder 2">
            <a:extLst>
              <a:ext uri="{FF2B5EF4-FFF2-40B4-BE49-F238E27FC236}">
                <a16:creationId xmlns:a16="http://schemas.microsoft.com/office/drawing/2014/main" id="{332087A5-345F-7333-1BA8-3135B8836EBD}"/>
              </a:ext>
            </a:extLst>
          </p:cNvPr>
          <p:cNvSpPr>
            <a:spLocks noGrp="1"/>
          </p:cNvSpPr>
          <p:nvPr>
            <p:ph idx="1"/>
          </p:nvPr>
        </p:nvSpPr>
        <p:spPr>
          <a:xfrm>
            <a:off x="4810259" y="649480"/>
            <a:ext cx="6555347" cy="5546047"/>
          </a:xfrm>
        </p:spPr>
        <p:txBody>
          <a:bodyPr anchor="ctr">
            <a:normAutofit/>
          </a:bodyPr>
          <a:lstStyle/>
          <a:p>
            <a:pPr marL="0" indent="0">
              <a:buNone/>
            </a:pPr>
            <a:r>
              <a:rPr lang="en-US" sz="2400"/>
              <a:t>This project combines five main datasets:</a:t>
            </a:r>
          </a:p>
          <a:p>
            <a:r>
              <a:rPr lang="en-US" sz="2400">
                <a:hlinkClick r:id="rId3"/>
              </a:rPr>
              <a:t>Crash in DC</a:t>
            </a:r>
            <a:endParaRPr lang="en-US" sz="2400"/>
          </a:p>
          <a:p>
            <a:r>
              <a:rPr lang="en-US" sz="2400">
                <a:hlinkClick r:id="rId4"/>
              </a:rPr>
              <a:t>Census Tracts in 2020</a:t>
            </a:r>
            <a:endParaRPr lang="en-US" sz="2400"/>
          </a:p>
          <a:p>
            <a:r>
              <a:rPr lang="en-US" sz="2400">
                <a:hlinkClick r:id="rId5"/>
              </a:rPr>
              <a:t>Roadway Block</a:t>
            </a:r>
            <a:endParaRPr lang="en-US" sz="2400"/>
          </a:p>
          <a:p>
            <a:r>
              <a:rPr lang="en-US" sz="2400">
                <a:hlinkClick r:id="rId6"/>
              </a:rPr>
              <a:t>Roadway Block Intersection</a:t>
            </a:r>
            <a:endParaRPr lang="en-US" sz="2400"/>
          </a:p>
          <a:p>
            <a:r>
              <a:rPr lang="en-US" sz="2400">
                <a:hlinkClick r:id="rId7"/>
              </a:rPr>
              <a:t>Traffic Signal</a:t>
            </a:r>
            <a:endParaRPr lang="en-US" sz="2400"/>
          </a:p>
          <a:p>
            <a:endParaRPr lang="en-US" sz="2000"/>
          </a:p>
        </p:txBody>
      </p:sp>
      <p:sp>
        <p:nvSpPr>
          <p:cNvPr id="5" name="Slide Number Placeholder 4">
            <a:extLst>
              <a:ext uri="{FF2B5EF4-FFF2-40B4-BE49-F238E27FC236}">
                <a16:creationId xmlns:a16="http://schemas.microsoft.com/office/drawing/2014/main" id="{F7771D80-50A9-BC7A-93C2-739C286E6F66}"/>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5</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475B9FD4-64E1-C0C4-D2D3-B1476F10A145}"/>
              </a:ext>
            </a:extLst>
          </p:cNvPr>
          <p:cNvPicPr>
            <a:picLocks noChangeAspect="1"/>
          </p:cNvPicPr>
          <p:nvPr/>
        </p:nvPicPr>
        <p:blipFill>
          <a:blip r:embed="rId8"/>
          <a:stretch>
            <a:fillRect/>
          </a:stretch>
        </p:blipFill>
        <p:spPr>
          <a:xfrm>
            <a:off x="606207" y="5641997"/>
            <a:ext cx="1177036" cy="725054"/>
          </a:xfrm>
          <a:prstGeom prst="rect">
            <a:avLst/>
          </a:prstGeom>
        </p:spPr>
      </p:pic>
    </p:spTree>
    <p:extLst>
      <p:ext uri="{BB962C8B-B14F-4D97-AF65-F5344CB8AC3E}">
        <p14:creationId xmlns:p14="http://schemas.microsoft.com/office/powerpoint/2010/main" val="322242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9B81BE-7536-DEC0-524E-24627DB90C0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774006-C21F-DFEB-3A4D-708CB21E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80DE3BCA-4B2F-44EC-FE77-87E5A540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5C0561-FBD3-21EF-91B7-154CA9464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C0DA5B2-7ADA-B73D-7C57-EBEE4FBA6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BB7889-D5AF-91ED-9983-66A635B6B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1122691-EA15-0082-56C3-87B6CD2EC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DA6A3E52-873D-9D9C-6DBC-7EF6B7045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38012C-341E-514E-053F-E4FFFDB8B92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Why Tract-Month Level?</a:t>
            </a:r>
          </a:p>
        </p:txBody>
      </p:sp>
      <p:sp>
        <p:nvSpPr>
          <p:cNvPr id="3" name="Content Placeholder 2">
            <a:extLst>
              <a:ext uri="{FF2B5EF4-FFF2-40B4-BE49-F238E27FC236}">
                <a16:creationId xmlns:a16="http://schemas.microsoft.com/office/drawing/2014/main" id="{7E8C2553-F49F-BF96-5BCC-4487BAA9C970}"/>
              </a:ext>
            </a:extLst>
          </p:cNvPr>
          <p:cNvSpPr>
            <a:spLocks noGrp="1"/>
          </p:cNvSpPr>
          <p:nvPr>
            <p:ph idx="1"/>
          </p:nvPr>
        </p:nvSpPr>
        <p:spPr>
          <a:xfrm>
            <a:off x="4810259" y="3974352"/>
            <a:ext cx="6894061" cy="2221176"/>
          </a:xfrm>
        </p:spPr>
        <p:txBody>
          <a:bodyPr anchor="ctr">
            <a:noAutofit/>
          </a:bodyPr>
          <a:lstStyle/>
          <a:p>
            <a:pPr marL="0" indent="0">
              <a:buNone/>
            </a:pPr>
            <a:r>
              <a:rPr lang="en-US" b="1" dirty="0"/>
              <a:t>Solution:</a:t>
            </a:r>
            <a:br>
              <a:rPr lang="en-US" dirty="0"/>
            </a:br>
            <a:r>
              <a:rPr lang="en-US" dirty="0"/>
              <a:t>Spatially join crashes to census tracts, then aggregate by month.</a:t>
            </a:r>
            <a:endParaRPr lang="en-US" b="1" dirty="0"/>
          </a:p>
          <a:p>
            <a:pPr marL="0" indent="0">
              <a:buNone/>
            </a:pPr>
            <a:endParaRPr lang="en-US" b="1" dirty="0"/>
          </a:p>
          <a:p>
            <a:pPr marL="0" indent="0">
              <a:buNone/>
            </a:pPr>
            <a:r>
              <a:rPr lang="en-US" b="1" dirty="0"/>
              <a:t>Final unit:</a:t>
            </a:r>
          </a:p>
          <a:p>
            <a:pPr marL="0" indent="0">
              <a:buNone/>
            </a:pPr>
            <a:r>
              <a:rPr lang="en-US" dirty="0"/>
              <a:t>1 row = 1 census tract × 1 year × 1 month</a:t>
            </a:r>
            <a:endParaRPr lang="en-US" b="1" dirty="0"/>
          </a:p>
        </p:txBody>
      </p:sp>
      <p:sp>
        <p:nvSpPr>
          <p:cNvPr id="5" name="Slide Number Placeholder 4">
            <a:extLst>
              <a:ext uri="{FF2B5EF4-FFF2-40B4-BE49-F238E27FC236}">
                <a16:creationId xmlns:a16="http://schemas.microsoft.com/office/drawing/2014/main" id="{1785E8E7-5B19-F718-48CF-CEE9E8B9DA33}"/>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8764D24C-80F1-5D7E-F2AD-010A447799A8}"/>
              </a:ext>
            </a:extLst>
          </p:cNvPr>
          <p:cNvPicPr>
            <a:picLocks noChangeAspect="1"/>
          </p:cNvPicPr>
          <p:nvPr/>
        </p:nvPicPr>
        <p:blipFill>
          <a:blip r:embed="rId3"/>
          <a:stretch>
            <a:fillRect/>
          </a:stretch>
        </p:blipFill>
        <p:spPr>
          <a:xfrm>
            <a:off x="647191" y="5607005"/>
            <a:ext cx="1177036" cy="725054"/>
          </a:xfrm>
          <a:prstGeom prst="rect">
            <a:avLst/>
          </a:prstGeom>
        </p:spPr>
      </p:pic>
      <p:graphicFrame>
        <p:nvGraphicFramePr>
          <p:cNvPr id="6" name="Table 5">
            <a:extLst>
              <a:ext uri="{FF2B5EF4-FFF2-40B4-BE49-F238E27FC236}">
                <a16:creationId xmlns:a16="http://schemas.microsoft.com/office/drawing/2014/main" id="{6395B8C1-1F62-58A7-DD9F-61E50A61C350}"/>
              </a:ext>
            </a:extLst>
          </p:cNvPr>
          <p:cNvGraphicFramePr>
            <a:graphicFrameLocks noGrp="1"/>
          </p:cNvGraphicFramePr>
          <p:nvPr>
            <p:extLst>
              <p:ext uri="{D42A27DB-BD31-4B8C-83A1-F6EECF244321}">
                <p14:modId xmlns:p14="http://schemas.microsoft.com/office/powerpoint/2010/main" val="2095196497"/>
              </p:ext>
            </p:extLst>
          </p:nvPr>
        </p:nvGraphicFramePr>
        <p:xfrm>
          <a:off x="4810257" y="1499015"/>
          <a:ext cx="6141278" cy="2072640"/>
        </p:xfrm>
        <a:graphic>
          <a:graphicData uri="http://schemas.openxmlformats.org/drawingml/2006/table">
            <a:tbl>
              <a:tblPr firstRow="1" bandRow="1">
                <a:tableStyleId>{69012ECD-51FC-41F1-AA8D-1B2483CD663E}</a:tableStyleId>
              </a:tblPr>
              <a:tblGrid>
                <a:gridCol w="3070639">
                  <a:extLst>
                    <a:ext uri="{9D8B030D-6E8A-4147-A177-3AD203B41FA5}">
                      <a16:colId xmlns:a16="http://schemas.microsoft.com/office/drawing/2014/main" val="580127941"/>
                    </a:ext>
                  </a:extLst>
                </a:gridCol>
                <a:gridCol w="3070639">
                  <a:extLst>
                    <a:ext uri="{9D8B030D-6E8A-4147-A177-3AD203B41FA5}">
                      <a16:colId xmlns:a16="http://schemas.microsoft.com/office/drawing/2014/main" val="3096601083"/>
                    </a:ext>
                  </a:extLst>
                </a:gridCol>
              </a:tblGrid>
              <a:tr h="0">
                <a:tc>
                  <a:txBody>
                    <a:bodyPr/>
                    <a:lstStyle/>
                    <a:p>
                      <a:r>
                        <a:rPr lang="en-US" sz="2800" b="1" dirty="0"/>
                        <a:t>Dataset</a:t>
                      </a:r>
                    </a:p>
                  </a:txBody>
                  <a:tcPr/>
                </a:tc>
                <a:tc>
                  <a:txBody>
                    <a:bodyPr/>
                    <a:lstStyle/>
                    <a:p>
                      <a:r>
                        <a:rPr lang="en-US" sz="2800" b="1" dirty="0"/>
                        <a:t>Original Level</a:t>
                      </a:r>
                    </a:p>
                  </a:txBody>
                  <a:tcPr/>
                </a:tc>
                <a:extLst>
                  <a:ext uri="{0D108BD9-81ED-4DB2-BD59-A6C34878D82A}">
                    <a16:rowId xmlns:a16="http://schemas.microsoft.com/office/drawing/2014/main" val="154305684"/>
                  </a:ext>
                </a:extLst>
              </a:tr>
              <a:tr h="370840">
                <a:tc>
                  <a:txBody>
                    <a:bodyPr/>
                    <a:lstStyle/>
                    <a:p>
                      <a:r>
                        <a:rPr lang="en-US" sz="2800" dirty="0"/>
                        <a:t>Crashes</a:t>
                      </a:r>
                    </a:p>
                  </a:txBody>
                  <a:tcPr/>
                </a:tc>
                <a:tc>
                  <a:txBody>
                    <a:bodyPr/>
                    <a:lstStyle/>
                    <a:p>
                      <a:r>
                        <a:rPr lang="en-US" sz="2800" dirty="0"/>
                        <a:t>Point-level records</a:t>
                      </a:r>
                    </a:p>
                  </a:txBody>
                  <a:tcPr/>
                </a:tc>
                <a:extLst>
                  <a:ext uri="{0D108BD9-81ED-4DB2-BD59-A6C34878D82A}">
                    <a16:rowId xmlns:a16="http://schemas.microsoft.com/office/drawing/2014/main" val="439926826"/>
                  </a:ext>
                </a:extLst>
              </a:tr>
              <a:tr h="370840">
                <a:tc>
                  <a:txBody>
                    <a:bodyPr/>
                    <a:lstStyle/>
                    <a:p>
                      <a:r>
                        <a:rPr lang="en-US" sz="2800" dirty="0"/>
                        <a:t>Roadway variables</a:t>
                      </a:r>
                    </a:p>
                  </a:txBody>
                  <a:tcPr/>
                </a:tc>
                <a:tc>
                  <a:txBody>
                    <a:bodyPr/>
                    <a:lstStyle/>
                    <a:p>
                      <a:r>
                        <a:rPr lang="en-US" sz="2800" dirty="0"/>
                        <a:t>Census-tract level</a:t>
                      </a:r>
                    </a:p>
                  </a:txBody>
                  <a:tcPr/>
                </a:tc>
                <a:extLst>
                  <a:ext uri="{0D108BD9-81ED-4DB2-BD59-A6C34878D82A}">
                    <a16:rowId xmlns:a16="http://schemas.microsoft.com/office/drawing/2014/main" val="2244260530"/>
                  </a:ext>
                </a:extLst>
              </a:tr>
              <a:tr h="370840">
                <a:tc>
                  <a:txBody>
                    <a:bodyPr/>
                    <a:lstStyle/>
                    <a:p>
                      <a:r>
                        <a:rPr lang="en-US" sz="2800" dirty="0"/>
                        <a:t>Demographics</a:t>
                      </a:r>
                    </a:p>
                  </a:txBody>
                  <a:tcPr/>
                </a:tc>
                <a:tc>
                  <a:txBody>
                    <a:bodyPr/>
                    <a:lstStyle/>
                    <a:p>
                      <a:r>
                        <a:rPr lang="en-US" sz="2800" dirty="0"/>
                        <a:t>Census-tract level</a:t>
                      </a:r>
                    </a:p>
                  </a:txBody>
                  <a:tcPr/>
                </a:tc>
                <a:extLst>
                  <a:ext uri="{0D108BD9-81ED-4DB2-BD59-A6C34878D82A}">
                    <a16:rowId xmlns:a16="http://schemas.microsoft.com/office/drawing/2014/main" val="1213572393"/>
                  </a:ext>
                </a:extLst>
              </a:tr>
            </a:tbl>
          </a:graphicData>
        </a:graphic>
      </p:graphicFrame>
      <p:sp>
        <p:nvSpPr>
          <p:cNvPr id="8" name="TextBox 7">
            <a:extLst>
              <a:ext uri="{FF2B5EF4-FFF2-40B4-BE49-F238E27FC236}">
                <a16:creationId xmlns:a16="http://schemas.microsoft.com/office/drawing/2014/main" id="{9120359F-CB49-3D97-06B8-D315B7185B81}"/>
              </a:ext>
            </a:extLst>
          </p:cNvPr>
          <p:cNvSpPr txBox="1"/>
          <p:nvPr/>
        </p:nvSpPr>
        <p:spPr>
          <a:xfrm>
            <a:off x="4784651" y="965657"/>
            <a:ext cx="6166884" cy="523220"/>
          </a:xfrm>
          <a:prstGeom prst="rect">
            <a:avLst/>
          </a:prstGeom>
          <a:noFill/>
        </p:spPr>
        <p:txBody>
          <a:bodyPr wrap="square">
            <a:spAutoFit/>
          </a:bodyPr>
          <a:lstStyle/>
          <a:p>
            <a:r>
              <a:rPr lang="en-US" sz="2800" dirty="0"/>
              <a:t>Different data starts at different levels:</a:t>
            </a:r>
          </a:p>
        </p:txBody>
      </p:sp>
    </p:spTree>
    <p:extLst>
      <p:ext uri="{BB962C8B-B14F-4D97-AF65-F5344CB8AC3E}">
        <p14:creationId xmlns:p14="http://schemas.microsoft.com/office/powerpoint/2010/main" val="1795374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67D16-08AB-24B7-CBD1-13F8E47D3C1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1DF9F1-ED61-5D7F-C07E-D0B94C791235}"/>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Why Density Measures?</a:t>
            </a:r>
          </a:p>
        </p:txBody>
      </p:sp>
      <p:sp>
        <p:nvSpPr>
          <p:cNvPr id="3" name="Content Placeholder 2">
            <a:extLst>
              <a:ext uri="{FF2B5EF4-FFF2-40B4-BE49-F238E27FC236}">
                <a16:creationId xmlns:a16="http://schemas.microsoft.com/office/drawing/2014/main" id="{D17924E9-879F-3B91-8ABF-59FF988F0D57}"/>
              </a:ext>
            </a:extLst>
          </p:cNvPr>
          <p:cNvSpPr>
            <a:spLocks noGrp="1"/>
          </p:cNvSpPr>
          <p:nvPr>
            <p:ph idx="1"/>
          </p:nvPr>
        </p:nvSpPr>
        <p:spPr>
          <a:xfrm>
            <a:off x="4810259" y="649480"/>
            <a:ext cx="6555347" cy="5546047"/>
          </a:xfrm>
        </p:spPr>
        <p:txBody>
          <a:bodyPr anchor="ctr">
            <a:normAutofit/>
          </a:bodyPr>
          <a:lstStyle/>
          <a:p>
            <a:r>
              <a:rPr lang="en-US" sz="2400"/>
              <a:t>Raw counts are affected by census tract size. Larger tracts may naturally contain more crashes, road length, intersections, and signals.</a:t>
            </a:r>
          </a:p>
          <a:p>
            <a:r>
              <a:rPr lang="en-US" sz="2400"/>
              <a:t>To make census tracts comparable, key measures were normalized by land area:</a:t>
            </a:r>
          </a:p>
          <a:p>
            <a:pPr lvl="1"/>
            <a:r>
              <a:rPr lang="en-US" err="1"/>
              <a:t>crash_density</a:t>
            </a:r>
            <a:r>
              <a:rPr lang="en-US"/>
              <a:t> = </a:t>
            </a:r>
            <a:r>
              <a:rPr lang="en-US" err="1"/>
              <a:t>crash_count</a:t>
            </a:r>
            <a:r>
              <a:rPr lang="en-US"/>
              <a:t> / area_km2</a:t>
            </a:r>
          </a:p>
          <a:p>
            <a:pPr lvl="1"/>
            <a:r>
              <a:rPr lang="en-US" err="1"/>
              <a:t>road_density</a:t>
            </a:r>
            <a:r>
              <a:rPr lang="en-US"/>
              <a:t> = </a:t>
            </a:r>
            <a:r>
              <a:rPr lang="en-US" err="1"/>
              <a:t>road_length_km</a:t>
            </a:r>
            <a:r>
              <a:rPr lang="en-US"/>
              <a:t> / area_km2</a:t>
            </a:r>
          </a:p>
          <a:p>
            <a:pPr lvl="1"/>
            <a:r>
              <a:rPr lang="en-US" err="1"/>
              <a:t>signal_density</a:t>
            </a:r>
            <a:r>
              <a:rPr lang="en-US"/>
              <a:t> = </a:t>
            </a:r>
            <a:r>
              <a:rPr lang="en-US" err="1"/>
              <a:t>signal_count</a:t>
            </a:r>
            <a:r>
              <a:rPr lang="en-US"/>
              <a:t> / area_km2</a:t>
            </a:r>
          </a:p>
          <a:p>
            <a:pPr lvl="1"/>
            <a:r>
              <a:rPr lang="en-US" err="1"/>
              <a:t>intersection_density</a:t>
            </a:r>
            <a:r>
              <a:rPr lang="en-US"/>
              <a:t> = </a:t>
            </a:r>
            <a:r>
              <a:rPr lang="en-US" err="1"/>
              <a:t>intersection_count</a:t>
            </a:r>
            <a:r>
              <a:rPr lang="en-US"/>
              <a:t> / area_km2</a:t>
            </a:r>
          </a:p>
          <a:p>
            <a:r>
              <a:rPr lang="en-US" sz="2400"/>
              <a:t>This shifts the analysis from “how many” to “how concentrated.”</a:t>
            </a:r>
          </a:p>
        </p:txBody>
      </p:sp>
      <p:sp>
        <p:nvSpPr>
          <p:cNvPr id="5" name="Slide Number Placeholder 4">
            <a:extLst>
              <a:ext uri="{FF2B5EF4-FFF2-40B4-BE49-F238E27FC236}">
                <a16:creationId xmlns:a16="http://schemas.microsoft.com/office/drawing/2014/main" id="{9447E5E0-1BD7-6327-ACF6-A513D4BDE916}"/>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7</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BD773381-6650-7A01-D90E-ECFBF090D6B3}"/>
              </a:ext>
            </a:extLst>
          </p:cNvPr>
          <p:cNvPicPr>
            <a:picLocks noChangeAspect="1"/>
          </p:cNvPicPr>
          <p:nvPr/>
        </p:nvPicPr>
        <p:blipFill>
          <a:blip r:embed="rId3"/>
          <a:stretch>
            <a:fillRect/>
          </a:stretch>
        </p:blipFill>
        <p:spPr>
          <a:xfrm>
            <a:off x="662690" y="5627286"/>
            <a:ext cx="1177036" cy="725054"/>
          </a:xfrm>
          <a:prstGeom prst="rect">
            <a:avLst/>
          </a:prstGeom>
        </p:spPr>
      </p:pic>
    </p:spTree>
    <p:extLst>
      <p:ext uri="{BB962C8B-B14F-4D97-AF65-F5344CB8AC3E}">
        <p14:creationId xmlns:p14="http://schemas.microsoft.com/office/powerpoint/2010/main" val="1615552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A70D26-CD2F-66EC-DB28-3E4CA1A11696}"/>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428980-ED4D-F12D-8B96-40322EF93F25}"/>
              </a:ext>
            </a:extLst>
          </p:cNvPr>
          <p:cNvSpPr>
            <a:spLocks noGrp="1"/>
          </p:cNvSpPr>
          <p:nvPr>
            <p:ph type="title"/>
          </p:nvPr>
        </p:nvSpPr>
        <p:spPr>
          <a:xfrm>
            <a:off x="838200" y="557188"/>
            <a:ext cx="10515600" cy="1133499"/>
          </a:xfrm>
        </p:spPr>
        <p:txBody>
          <a:bodyPr>
            <a:normAutofit/>
          </a:bodyPr>
          <a:lstStyle/>
          <a:p>
            <a:pPr algn="ctr"/>
            <a:r>
              <a:rPr lang="en-US"/>
              <a:t>Feature Engineering and Variable Selection</a:t>
            </a:r>
          </a:p>
        </p:txBody>
      </p:sp>
      <p:sp>
        <p:nvSpPr>
          <p:cNvPr id="5" name="Slide Number Placeholder 4">
            <a:extLst>
              <a:ext uri="{FF2B5EF4-FFF2-40B4-BE49-F238E27FC236}">
                <a16:creationId xmlns:a16="http://schemas.microsoft.com/office/drawing/2014/main" id="{FC073C30-7E7B-617B-D8DF-2E99133B35F9}"/>
              </a:ext>
            </a:extLst>
          </p:cNvPr>
          <p:cNvSpPr>
            <a:spLocks noGrp="1"/>
          </p:cNvSpPr>
          <p:nvPr>
            <p:ph type="sldNum" sz="quarter" idx="12"/>
          </p:nvPr>
        </p:nvSpPr>
        <p:spPr>
          <a:xfrm>
            <a:off x="8610600" y="6356350"/>
            <a:ext cx="2743200" cy="365125"/>
          </a:xfrm>
        </p:spPr>
        <p:txBody>
          <a:bodyPr>
            <a:normAutofit/>
          </a:bodyPr>
          <a:lstStyle/>
          <a:p>
            <a:pPr>
              <a:spcAft>
                <a:spcPts val="600"/>
              </a:spcAft>
            </a:pPr>
            <a:fld id="{C9E9CA6D-21B0-DC40-B670-34B7FF5C511E}" type="slidenum">
              <a:rPr lang="en-US" smtClean="0"/>
              <a:pPr>
                <a:spcAft>
                  <a:spcPts val="600"/>
                </a:spcAft>
              </a:pPr>
              <a:t>8</a:t>
            </a:fld>
            <a:endParaRPr lang="en-US"/>
          </a:p>
        </p:txBody>
      </p:sp>
      <p:pic>
        <p:nvPicPr>
          <p:cNvPr id="4" name="Picture 3" descr="Verify Licensed Insurers | disb">
            <a:extLst>
              <a:ext uri="{FF2B5EF4-FFF2-40B4-BE49-F238E27FC236}">
                <a16:creationId xmlns:a16="http://schemas.microsoft.com/office/drawing/2014/main" id="{C3629935-F5B5-EE5D-D847-2A1726CF799F}"/>
              </a:ext>
            </a:extLst>
          </p:cNvPr>
          <p:cNvPicPr>
            <a:picLocks noChangeAspect="1"/>
          </p:cNvPicPr>
          <p:nvPr/>
        </p:nvPicPr>
        <p:blipFill>
          <a:blip r:embed="rId3"/>
          <a:stretch>
            <a:fillRect/>
          </a:stretch>
        </p:blipFill>
        <p:spPr>
          <a:xfrm>
            <a:off x="10176764" y="194661"/>
            <a:ext cx="1177036" cy="725054"/>
          </a:xfrm>
          <a:prstGeom prst="rect">
            <a:avLst/>
          </a:prstGeom>
        </p:spPr>
      </p:pic>
      <p:graphicFrame>
        <p:nvGraphicFramePr>
          <p:cNvPr id="25" name="Content Placeholder 2">
            <a:extLst>
              <a:ext uri="{FF2B5EF4-FFF2-40B4-BE49-F238E27FC236}">
                <a16:creationId xmlns:a16="http://schemas.microsoft.com/office/drawing/2014/main" id="{55F7C573-3AE0-D184-D8EC-6DEAEFAD476F}"/>
              </a:ext>
            </a:extLst>
          </p:cNvPr>
          <p:cNvGraphicFramePr>
            <a:graphicFrameLocks noGrp="1"/>
          </p:cNvGraphicFramePr>
          <p:nvPr>
            <p:ph idx="1"/>
            <p:extLst>
              <p:ext uri="{D42A27DB-BD31-4B8C-83A1-F6EECF244321}">
                <p14:modId xmlns:p14="http://schemas.microsoft.com/office/powerpoint/2010/main" val="346955777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622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6DBA5E-27E3-E780-3884-14A1446E0DD6}"/>
            </a:ext>
          </a:extLst>
        </p:cNvPr>
        <p:cNvGrpSpPr/>
        <p:nvPr/>
      </p:nvGrpSpPr>
      <p:grpSpPr>
        <a:xfrm>
          <a:off x="0" y="0"/>
          <a:ext cx="0" cy="0"/>
          <a:chOff x="0" y="0"/>
          <a:chExt cx="0" cy="0"/>
        </a:xfrm>
      </p:grpSpPr>
      <p:sp useBgFill="1">
        <p:nvSpPr>
          <p:cNvPr id="32"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A9585ED-84FE-0489-F8FA-F5B6F095D3BC}"/>
              </a:ext>
            </a:extLst>
          </p:cNvPr>
          <p:cNvPicPr>
            <a:picLocks noChangeAspect="1"/>
          </p:cNvPicPr>
          <p:nvPr/>
        </p:nvPicPr>
        <p:blipFill>
          <a:blip r:embed="rId3"/>
          <a:srcRect r="10767"/>
          <a:stretch>
            <a:fillRect/>
          </a:stretch>
        </p:blipFill>
        <p:spPr>
          <a:xfrm>
            <a:off x="6103027" y="10"/>
            <a:ext cx="6088971" cy="6857990"/>
          </a:xfrm>
          <a:prstGeom prst="rect">
            <a:avLst/>
          </a:prstGeom>
        </p:spPr>
      </p:pic>
      <p:sp useBgFill="1">
        <p:nvSpPr>
          <p:cNvPr id="34" name="Rectangle 33">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59B609-F937-92C4-E136-5574DAB6375B}"/>
              </a:ext>
            </a:extLst>
          </p:cNvPr>
          <p:cNvSpPr>
            <a:spLocks noGrp="1"/>
          </p:cNvSpPr>
          <p:nvPr>
            <p:ph type="title"/>
          </p:nvPr>
        </p:nvSpPr>
        <p:spPr>
          <a:xfrm>
            <a:off x="761801" y="328512"/>
            <a:ext cx="4778387" cy="1628970"/>
          </a:xfrm>
        </p:spPr>
        <p:txBody>
          <a:bodyPr anchor="ctr">
            <a:normAutofit/>
          </a:bodyPr>
          <a:lstStyle/>
          <a:p>
            <a:r>
              <a:rPr lang="en-US" sz="4000"/>
              <a:t>EDA 1: Crash Concentration Pattern</a:t>
            </a:r>
          </a:p>
        </p:txBody>
      </p:sp>
      <p:sp>
        <p:nvSpPr>
          <p:cNvPr id="9" name="Content Placeholder 8">
            <a:extLst>
              <a:ext uri="{FF2B5EF4-FFF2-40B4-BE49-F238E27FC236}">
                <a16:creationId xmlns:a16="http://schemas.microsoft.com/office/drawing/2014/main" id="{CA6D1739-26A0-EC8A-A797-0A3C9D359DA7}"/>
              </a:ext>
            </a:extLst>
          </p:cNvPr>
          <p:cNvSpPr>
            <a:spLocks noGrp="1"/>
          </p:cNvSpPr>
          <p:nvPr>
            <p:ph idx="1"/>
          </p:nvPr>
        </p:nvSpPr>
        <p:spPr>
          <a:xfrm>
            <a:off x="761799" y="1961051"/>
            <a:ext cx="4659756" cy="3374137"/>
          </a:xfrm>
        </p:spPr>
        <p:txBody>
          <a:bodyPr anchor="ctr">
            <a:normAutofit/>
          </a:bodyPr>
          <a:lstStyle/>
          <a:p>
            <a:r>
              <a:rPr lang="en-US" sz="2400"/>
              <a:t>Crash density is not evenly distributed across DC.  </a:t>
            </a:r>
          </a:p>
          <a:p>
            <a:r>
              <a:rPr lang="en-US" sz="2400"/>
              <a:t>Some census tracts consistently show higher crash concentration, suggesting that location and roadway environment matter.</a:t>
            </a:r>
          </a:p>
        </p:txBody>
      </p:sp>
      <p:sp>
        <p:nvSpPr>
          <p:cNvPr id="5" name="Slide Number Placeholder 4">
            <a:extLst>
              <a:ext uri="{FF2B5EF4-FFF2-40B4-BE49-F238E27FC236}">
                <a16:creationId xmlns:a16="http://schemas.microsoft.com/office/drawing/2014/main" id="{93B5C64A-E1BC-56D1-78A6-F1DED46F8B8E}"/>
              </a:ext>
            </a:extLst>
          </p:cNvPr>
          <p:cNvSpPr>
            <a:spLocks noGrp="1"/>
          </p:cNvSpPr>
          <p:nvPr>
            <p:ph type="sldNum" sz="quarter" idx="12"/>
          </p:nvPr>
        </p:nvSpPr>
        <p:spPr>
          <a:xfrm>
            <a:off x="10515600" y="6356350"/>
            <a:ext cx="1462825" cy="365125"/>
          </a:xfrm>
        </p:spPr>
        <p:txBody>
          <a:bodyPr>
            <a:normAutofit/>
          </a:bodyPr>
          <a:lstStyle/>
          <a:p>
            <a:pPr>
              <a:spcAft>
                <a:spcPts val="600"/>
              </a:spcAft>
            </a:pPr>
            <a:fld id="{C9E9CA6D-21B0-DC40-B670-34B7FF5C511E}" type="slidenum">
              <a:rPr lang="en-US">
                <a:solidFill>
                  <a:srgbClr val="FFFFFF"/>
                </a:solidFill>
              </a:rPr>
              <a:pPr>
                <a:spcAft>
                  <a:spcPts val="600"/>
                </a:spcAft>
              </a:pPr>
              <a:t>9</a:t>
            </a:fld>
            <a:endParaRPr lang="en-US">
              <a:solidFill>
                <a:srgbClr val="FFFFFF"/>
              </a:solidFill>
            </a:endParaRPr>
          </a:p>
        </p:txBody>
      </p:sp>
      <p:pic>
        <p:nvPicPr>
          <p:cNvPr id="4" name="Picture 3" descr="Verify Licensed Insurers | disb">
            <a:extLst>
              <a:ext uri="{FF2B5EF4-FFF2-40B4-BE49-F238E27FC236}">
                <a16:creationId xmlns:a16="http://schemas.microsoft.com/office/drawing/2014/main" id="{57B9D979-A96C-D996-3AC0-EEE584F1415B}"/>
              </a:ext>
            </a:extLst>
          </p:cNvPr>
          <p:cNvPicPr>
            <a:picLocks noChangeAspect="1"/>
          </p:cNvPicPr>
          <p:nvPr/>
        </p:nvPicPr>
        <p:blipFill>
          <a:blip r:embed="rId4"/>
          <a:stretch>
            <a:fillRect/>
          </a:stretch>
        </p:blipFill>
        <p:spPr>
          <a:xfrm>
            <a:off x="761799" y="5514709"/>
            <a:ext cx="1177036" cy="725054"/>
          </a:xfrm>
          <a:prstGeom prst="rect">
            <a:avLst/>
          </a:prstGeom>
        </p:spPr>
      </p:pic>
    </p:spTree>
    <p:extLst>
      <p:ext uri="{BB962C8B-B14F-4D97-AF65-F5344CB8AC3E}">
        <p14:creationId xmlns:p14="http://schemas.microsoft.com/office/powerpoint/2010/main" val="2290892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2D1C21-2482-3393-797D-292BDFFA7CF0}"/>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D6960B5-D0B1-43A9-9257-A35439C17B77}"/>
              </a:ext>
            </a:extLst>
          </p:cNvPr>
          <p:cNvPicPr>
            <a:picLocks noGrp="1" noChangeAspect="1"/>
          </p:cNvPicPr>
          <p:nvPr>
            <p:ph idx="1"/>
          </p:nvPr>
        </p:nvPicPr>
        <p:blipFill>
          <a:blip r:embed="rId3"/>
          <a:stretch>
            <a:fillRect/>
          </a:stretch>
        </p:blipFill>
        <p:spPr>
          <a:xfrm>
            <a:off x="643467" y="934466"/>
            <a:ext cx="10905066" cy="4989066"/>
          </a:xfrm>
          <a:prstGeom prst="rect">
            <a:avLst/>
          </a:prstGeom>
        </p:spPr>
      </p:pic>
      <p:sp>
        <p:nvSpPr>
          <p:cNvPr id="5" name="Slide Number Placeholder 4">
            <a:extLst>
              <a:ext uri="{FF2B5EF4-FFF2-40B4-BE49-F238E27FC236}">
                <a16:creationId xmlns:a16="http://schemas.microsoft.com/office/drawing/2014/main" id="{9431F4A2-6DBC-4351-0673-A526F0627B3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9E9CA6D-21B0-DC40-B670-34B7FF5C511E}" type="slidenum">
              <a:rPr lang="en-US" smtClean="0">
                <a:solidFill>
                  <a:schemeClr val="tx1">
                    <a:tint val="75000"/>
                  </a:schemeClr>
                </a:solidFill>
              </a:rPr>
              <a:pPr>
                <a:spcAft>
                  <a:spcPts val="600"/>
                </a:spcAft>
              </a:pPr>
              <a:t>10</a:t>
            </a:fld>
            <a:endParaRPr lang="en-US">
              <a:solidFill>
                <a:schemeClr val="tx1">
                  <a:tint val="75000"/>
                </a:schemeClr>
              </a:solidFill>
            </a:endParaRPr>
          </a:p>
        </p:txBody>
      </p:sp>
      <p:pic>
        <p:nvPicPr>
          <p:cNvPr id="4" name="Picture 3" descr="Verify Licensed Insurers | disb">
            <a:extLst>
              <a:ext uri="{FF2B5EF4-FFF2-40B4-BE49-F238E27FC236}">
                <a16:creationId xmlns:a16="http://schemas.microsoft.com/office/drawing/2014/main" id="{715AEE1B-C311-0FE5-A36F-60A929DEA43D}"/>
              </a:ext>
            </a:extLst>
          </p:cNvPr>
          <p:cNvPicPr>
            <a:picLocks noChangeAspect="1"/>
          </p:cNvPicPr>
          <p:nvPr/>
        </p:nvPicPr>
        <p:blipFill>
          <a:blip r:embed="rId4"/>
          <a:stretch>
            <a:fillRect/>
          </a:stretch>
        </p:blipFill>
        <p:spPr>
          <a:xfrm>
            <a:off x="10176764" y="260784"/>
            <a:ext cx="1177036" cy="725054"/>
          </a:xfrm>
          <a:prstGeom prst="rect">
            <a:avLst/>
          </a:prstGeom>
        </p:spPr>
      </p:pic>
      <p:sp>
        <p:nvSpPr>
          <p:cNvPr id="9" name="TextBox 8">
            <a:extLst>
              <a:ext uri="{FF2B5EF4-FFF2-40B4-BE49-F238E27FC236}">
                <a16:creationId xmlns:a16="http://schemas.microsoft.com/office/drawing/2014/main" id="{324161D7-C7C1-556F-14EE-9FC270712B47}"/>
              </a:ext>
            </a:extLst>
          </p:cNvPr>
          <p:cNvSpPr txBox="1"/>
          <p:nvPr/>
        </p:nvSpPr>
        <p:spPr>
          <a:xfrm>
            <a:off x="643467" y="260784"/>
            <a:ext cx="9120467" cy="615553"/>
          </a:xfrm>
          <a:prstGeom prst="rect">
            <a:avLst/>
          </a:prstGeom>
          <a:noFill/>
        </p:spPr>
        <p:txBody>
          <a:bodyPr wrap="square">
            <a:spAutoFit/>
          </a:bodyPr>
          <a:lstStyle/>
          <a:p>
            <a:r>
              <a:rPr lang="en-US" sz="3400"/>
              <a:t>EDA 2: Roadway Exposure vs. Crash Density</a:t>
            </a:r>
            <a:r>
              <a:rPr lang="en-US" sz="3400">
                <a:effectLst/>
              </a:rPr>
              <a:t> </a:t>
            </a:r>
            <a:endParaRPr lang="en-US" sz="3400"/>
          </a:p>
        </p:txBody>
      </p:sp>
    </p:spTree>
    <p:extLst>
      <p:ext uri="{BB962C8B-B14F-4D97-AF65-F5344CB8AC3E}">
        <p14:creationId xmlns:p14="http://schemas.microsoft.com/office/powerpoint/2010/main" val="4169341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AFFE59-8E4B-1493-8BA9-FDDC3DBEB402}"/>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8" name="Rectangle 4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7AF7C8-B0F6-8927-E113-67F1539DD8BE}"/>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3700">
                <a:solidFill>
                  <a:srgbClr val="FFFFFF"/>
                </a:solidFill>
              </a:rPr>
              <a:t>EDA 3: Demographic Spatial Context</a:t>
            </a:r>
            <a:r>
              <a:rPr lang="en-US" sz="3700">
                <a:solidFill>
                  <a:srgbClr val="FFFFFF"/>
                </a:solidFill>
                <a:effectLst/>
              </a:rPr>
              <a:t> </a:t>
            </a:r>
            <a:endParaRPr lang="en-US" sz="3700">
              <a:solidFill>
                <a:srgbClr val="FFFFFF"/>
              </a:solidFill>
            </a:endParaRPr>
          </a:p>
        </p:txBody>
      </p:sp>
      <p:pic>
        <p:nvPicPr>
          <p:cNvPr id="9" name="Content Placeholder 8">
            <a:extLst>
              <a:ext uri="{FF2B5EF4-FFF2-40B4-BE49-F238E27FC236}">
                <a16:creationId xmlns:a16="http://schemas.microsoft.com/office/drawing/2014/main" id="{87785A2C-81A8-D34D-5A7B-C9C07B48A940}"/>
              </a:ext>
            </a:extLst>
          </p:cNvPr>
          <p:cNvPicPr>
            <a:picLocks noGrp="1" noChangeAspect="1"/>
          </p:cNvPicPr>
          <p:nvPr>
            <p:ph idx="1"/>
          </p:nvPr>
        </p:nvPicPr>
        <p:blipFill>
          <a:blip r:embed="rId3"/>
          <a:srcRect l="696"/>
          <a:stretch>
            <a:fillRect/>
          </a:stretch>
        </p:blipFill>
        <p:spPr>
          <a:xfrm>
            <a:off x="2293852" y="2181426"/>
            <a:ext cx="3552983" cy="3997637"/>
          </a:xfrm>
          <a:prstGeom prst="rect">
            <a:avLst/>
          </a:prstGeom>
        </p:spPr>
      </p:pic>
      <p:pic>
        <p:nvPicPr>
          <p:cNvPr id="34" name="Picture 33">
            <a:extLst>
              <a:ext uri="{FF2B5EF4-FFF2-40B4-BE49-F238E27FC236}">
                <a16:creationId xmlns:a16="http://schemas.microsoft.com/office/drawing/2014/main" id="{1DEBBB7F-C149-D75B-DDFE-F39FEC4F688A}"/>
              </a:ext>
            </a:extLst>
          </p:cNvPr>
          <p:cNvPicPr>
            <a:picLocks noChangeAspect="1"/>
          </p:cNvPicPr>
          <p:nvPr/>
        </p:nvPicPr>
        <p:blipFill>
          <a:blip r:embed="rId4"/>
          <a:srcRect r="633"/>
          <a:stretch>
            <a:fillRect/>
          </a:stretch>
        </p:blipFill>
        <p:spPr>
          <a:xfrm>
            <a:off x="6342739" y="2181232"/>
            <a:ext cx="3555409" cy="3997831"/>
          </a:xfrm>
          <a:prstGeom prst="rect">
            <a:avLst/>
          </a:prstGeom>
        </p:spPr>
      </p:pic>
      <p:sp>
        <p:nvSpPr>
          <p:cNvPr id="5" name="Slide Number Placeholder 4">
            <a:extLst>
              <a:ext uri="{FF2B5EF4-FFF2-40B4-BE49-F238E27FC236}">
                <a16:creationId xmlns:a16="http://schemas.microsoft.com/office/drawing/2014/main" id="{C88C9AC1-E68E-1D04-D404-731DDDC1A124}"/>
              </a:ext>
            </a:extLst>
          </p:cNvPr>
          <p:cNvSpPr>
            <a:spLocks noGrp="1"/>
          </p:cNvSpPr>
          <p:nvPr>
            <p:ph type="sldNum" sz="quarter" idx="12"/>
          </p:nvPr>
        </p:nvSpPr>
        <p:spPr>
          <a:xfrm>
            <a:off x="11704320" y="6431079"/>
            <a:ext cx="448056" cy="365125"/>
          </a:xfrm>
        </p:spPr>
        <p:txBody>
          <a:bodyPr vert="horz" lIns="91440" tIns="45720" rIns="91440" bIns="45720" rtlCol="0" anchor="ct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11</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3FFA68FA-D555-01BA-F9C4-B5D2B5D26A53}"/>
              </a:ext>
            </a:extLst>
          </p:cNvPr>
          <p:cNvPicPr>
            <a:picLocks noChangeAspect="1"/>
          </p:cNvPicPr>
          <p:nvPr/>
        </p:nvPicPr>
        <p:blipFill>
          <a:blip r:embed="rId5"/>
          <a:stretch>
            <a:fillRect/>
          </a:stretch>
        </p:blipFill>
        <p:spPr>
          <a:xfrm>
            <a:off x="10519612" y="260784"/>
            <a:ext cx="1177036" cy="725054"/>
          </a:xfrm>
          <a:prstGeom prst="rect">
            <a:avLst/>
          </a:prstGeom>
        </p:spPr>
      </p:pic>
      <p:sp>
        <p:nvSpPr>
          <p:cNvPr id="6" name="TextBox 5">
            <a:extLst>
              <a:ext uri="{FF2B5EF4-FFF2-40B4-BE49-F238E27FC236}">
                <a16:creationId xmlns:a16="http://schemas.microsoft.com/office/drawing/2014/main" id="{8DDAA4A5-1055-C49E-E21D-9EC6E9989D83}"/>
              </a:ext>
            </a:extLst>
          </p:cNvPr>
          <p:cNvSpPr txBox="1"/>
          <p:nvPr/>
        </p:nvSpPr>
        <p:spPr>
          <a:xfrm>
            <a:off x="3230880" y="6170414"/>
            <a:ext cx="1869440" cy="261610"/>
          </a:xfrm>
          <a:prstGeom prst="rect">
            <a:avLst/>
          </a:prstGeom>
          <a:noFill/>
        </p:spPr>
        <p:txBody>
          <a:bodyPr wrap="square">
            <a:spAutoFit/>
          </a:bodyPr>
          <a:lstStyle/>
          <a:p>
            <a:r>
              <a:rPr lang="en-US" sz="1100" dirty="0"/>
              <a:t>Black-share Census Tract</a:t>
            </a:r>
          </a:p>
        </p:txBody>
      </p:sp>
      <p:sp>
        <p:nvSpPr>
          <p:cNvPr id="7" name="TextBox 6">
            <a:extLst>
              <a:ext uri="{FF2B5EF4-FFF2-40B4-BE49-F238E27FC236}">
                <a16:creationId xmlns:a16="http://schemas.microsoft.com/office/drawing/2014/main" id="{041EF114-0BA7-CB86-ED97-131E38D8294F}"/>
              </a:ext>
            </a:extLst>
          </p:cNvPr>
          <p:cNvSpPr txBox="1"/>
          <p:nvPr/>
        </p:nvSpPr>
        <p:spPr>
          <a:xfrm>
            <a:off x="7150934" y="6154686"/>
            <a:ext cx="2114986" cy="261610"/>
          </a:xfrm>
          <a:prstGeom prst="rect">
            <a:avLst/>
          </a:prstGeom>
          <a:noFill/>
        </p:spPr>
        <p:txBody>
          <a:bodyPr wrap="square">
            <a:spAutoFit/>
          </a:bodyPr>
          <a:lstStyle/>
          <a:p>
            <a:r>
              <a:rPr lang="en-US" sz="1100" dirty="0"/>
              <a:t>Hispanic-share Census Tract</a:t>
            </a:r>
          </a:p>
        </p:txBody>
      </p:sp>
    </p:spTree>
    <p:extLst>
      <p:ext uri="{BB962C8B-B14F-4D97-AF65-F5344CB8AC3E}">
        <p14:creationId xmlns:p14="http://schemas.microsoft.com/office/powerpoint/2010/main" val="1704713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40E5A1-CB00-34AB-B835-7748C392EBE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Slide Number Placeholder 4">
            <a:extLst>
              <a:ext uri="{FF2B5EF4-FFF2-40B4-BE49-F238E27FC236}">
                <a16:creationId xmlns:a16="http://schemas.microsoft.com/office/drawing/2014/main" id="{A4791858-9CF4-A338-B8F1-F84EADDDA1A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9E9CA6D-21B0-DC40-B670-34B7FF5C511E}" type="slidenum">
              <a:rPr lang="en-US" smtClean="0">
                <a:solidFill>
                  <a:srgbClr val="FFFFFF"/>
                </a:solidFill>
              </a:rPr>
              <a:pPr>
                <a:spcAft>
                  <a:spcPts val="600"/>
                </a:spcAft>
              </a:pPr>
              <a:t>12</a:t>
            </a:fld>
            <a:endParaRPr lang="en-US">
              <a:solidFill>
                <a:srgbClr val="FFFFFF"/>
              </a:solidFill>
            </a:endParaRPr>
          </a:p>
        </p:txBody>
      </p:sp>
      <p:pic>
        <p:nvPicPr>
          <p:cNvPr id="4" name="Picture 3" descr="Verify Licensed Insurers | disb">
            <a:extLst>
              <a:ext uri="{FF2B5EF4-FFF2-40B4-BE49-F238E27FC236}">
                <a16:creationId xmlns:a16="http://schemas.microsoft.com/office/drawing/2014/main" id="{906706CA-B8F2-B7D3-B633-282C2B7E27D4}"/>
              </a:ext>
            </a:extLst>
          </p:cNvPr>
          <p:cNvPicPr>
            <a:picLocks noChangeAspect="1"/>
          </p:cNvPicPr>
          <p:nvPr/>
        </p:nvPicPr>
        <p:blipFill>
          <a:blip r:embed="rId3"/>
          <a:stretch>
            <a:fillRect/>
          </a:stretch>
        </p:blipFill>
        <p:spPr>
          <a:xfrm>
            <a:off x="10519612" y="260784"/>
            <a:ext cx="1177036" cy="725054"/>
          </a:xfrm>
          <a:prstGeom prst="rect">
            <a:avLst/>
          </a:prstGeom>
        </p:spPr>
      </p:pic>
      <p:pic>
        <p:nvPicPr>
          <p:cNvPr id="16" name="Content Placeholder 9">
            <a:extLst>
              <a:ext uri="{FF2B5EF4-FFF2-40B4-BE49-F238E27FC236}">
                <a16:creationId xmlns:a16="http://schemas.microsoft.com/office/drawing/2014/main" id="{391F8D1E-F5AD-CE84-EA48-6C73B30F4459}"/>
              </a:ext>
            </a:extLst>
          </p:cNvPr>
          <p:cNvPicPr>
            <a:picLocks noChangeAspect="1"/>
          </p:cNvPicPr>
          <p:nvPr/>
        </p:nvPicPr>
        <p:blipFill>
          <a:blip r:embed="rId4"/>
          <a:srcRect b="1765"/>
          <a:stretch>
            <a:fillRect/>
          </a:stretch>
        </p:blipFill>
        <p:spPr>
          <a:xfrm>
            <a:off x="20" y="1282"/>
            <a:ext cx="12191980" cy="6856718"/>
          </a:xfrm>
          <a:prstGeom prst="rect">
            <a:avLst/>
          </a:prstGeom>
        </p:spPr>
      </p:pic>
      <p:pic>
        <p:nvPicPr>
          <p:cNvPr id="17" name="Picture 16" descr="Verify Licensed Insurers | disb">
            <a:extLst>
              <a:ext uri="{FF2B5EF4-FFF2-40B4-BE49-F238E27FC236}">
                <a16:creationId xmlns:a16="http://schemas.microsoft.com/office/drawing/2014/main" id="{8DD65094-B8C9-5C59-372B-F25177CDE62E}"/>
              </a:ext>
            </a:extLst>
          </p:cNvPr>
          <p:cNvPicPr>
            <a:picLocks noChangeAspect="1"/>
          </p:cNvPicPr>
          <p:nvPr/>
        </p:nvPicPr>
        <p:blipFill>
          <a:blip r:embed="rId3"/>
          <a:stretch>
            <a:fillRect/>
          </a:stretch>
        </p:blipFill>
        <p:spPr>
          <a:xfrm>
            <a:off x="536818" y="5541603"/>
            <a:ext cx="1177036" cy="725054"/>
          </a:xfrm>
          <a:prstGeom prst="rect">
            <a:avLst/>
          </a:prstGeom>
        </p:spPr>
      </p:pic>
    </p:spTree>
    <p:extLst>
      <p:ext uri="{BB962C8B-B14F-4D97-AF65-F5344CB8AC3E}">
        <p14:creationId xmlns:p14="http://schemas.microsoft.com/office/powerpoint/2010/main" val="1354764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485AB5-72CF-14A2-69A2-40C6EB6694B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E10BB74-AA6E-D1D6-3A3C-D1BD20AEC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6750EA-7A64-6E7E-F900-83F8543D7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A18F1A-BF49-451F-3E23-A8CD81416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54CA9B0-B5CF-702F-05DF-D40092EFF2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ACED2C2-BF19-5B60-7489-7D3D1154D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44A6DF-1E3B-2377-4426-584235E7021A}"/>
              </a:ext>
            </a:extLst>
          </p:cNvPr>
          <p:cNvSpPr>
            <a:spLocks noGrp="1"/>
          </p:cNvSpPr>
          <p:nvPr>
            <p:ph type="title"/>
          </p:nvPr>
        </p:nvSpPr>
        <p:spPr>
          <a:xfrm>
            <a:off x="1429408" y="331982"/>
            <a:ext cx="9895951" cy="1033669"/>
          </a:xfrm>
        </p:spPr>
        <p:txBody>
          <a:bodyPr>
            <a:normAutofit/>
          </a:bodyPr>
          <a:lstStyle/>
          <a:p>
            <a:r>
              <a:rPr lang="en-US" sz="4000" dirty="0">
                <a:solidFill>
                  <a:srgbClr val="FFFFFF"/>
                </a:solidFill>
              </a:rPr>
              <a:t>Why Regression 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D5F047-1AC3-6145-4374-174788C68122}"/>
                  </a:ext>
                </a:extLst>
              </p:cNvPr>
              <p:cNvSpPr>
                <a:spLocks noGrp="1"/>
              </p:cNvSpPr>
              <p:nvPr>
                <p:ph idx="1"/>
              </p:nvPr>
            </p:nvSpPr>
            <p:spPr>
              <a:xfrm>
                <a:off x="1429407" y="2222196"/>
                <a:ext cx="9148013" cy="3889846"/>
              </a:xfrm>
            </p:spPr>
            <p:txBody>
              <a:bodyPr anchor="ctr">
                <a:normAutofit fontScale="92500" lnSpcReduction="20000"/>
              </a:bodyPr>
              <a:lstStyle/>
              <a:p>
                <a:pPr marL="0" indent="0">
                  <a:buNone/>
                </a:pPr>
                <a:r>
                  <a:rPr lang="en-US" sz="2400" b="1" dirty="0"/>
                  <a:t>Simple idea (Simple regression)</a:t>
                </a:r>
              </a:p>
              <a:p>
                <a:pPr marL="0" indent="0">
                  <a:buNone/>
                </a:pPr>
                <a:endParaRPr lang="en-US" sz="2400" b="1" dirty="0"/>
              </a:p>
              <a:p>
                <a:pPr marL="0" indent="0">
                  <a:buNone/>
                </a:pPr>
                <a14:m>
                  <m:oMathPara xmlns:m="http://schemas.openxmlformats.org/officeDocument/2006/math">
                    <m:oMathParaPr>
                      <m:jc m:val="centerGroup"/>
                    </m:oMathParaPr>
                    <m:oMath xmlns:m="http://schemas.openxmlformats.org/officeDocument/2006/math">
                      <m:r>
                        <a:rPr lang="en-US" sz="4100" b="0" i="1" smtClean="0">
                          <a:latin typeface="Cambria Math" panose="02040503050406030204" pitchFamily="18" charset="0"/>
                        </a:rPr>
                        <m:t>𝑦</m:t>
                      </m:r>
                      <m:r>
                        <a:rPr lang="en-US" sz="4100" b="0" i="1" smtClean="0">
                          <a:latin typeface="Cambria Math" panose="02040503050406030204" pitchFamily="18" charset="0"/>
                        </a:rPr>
                        <m:t>=</m:t>
                      </m:r>
                      <m:sSub>
                        <m:sSubPr>
                          <m:ctrlPr>
                            <a:rPr lang="en-US" sz="4100" i="1">
                              <a:latin typeface="Cambria Math" panose="02040503050406030204" pitchFamily="18" charset="0"/>
                            </a:rPr>
                          </m:ctrlPr>
                        </m:sSubPr>
                        <m:e>
                          <m:r>
                            <a:rPr lang="en-US" sz="4100" b="0" i="1" smtClean="0">
                              <a:latin typeface="Cambria Math" panose="02040503050406030204" pitchFamily="18" charset="0"/>
                            </a:rPr>
                            <m:t>𝑘</m:t>
                          </m:r>
                        </m:e>
                        <m:sub>
                          <m:r>
                            <a:rPr lang="en-US" sz="4100" b="0" i="1" smtClean="0">
                              <a:latin typeface="Cambria Math" panose="02040503050406030204" pitchFamily="18" charset="0"/>
                            </a:rPr>
                            <m:t>𝑛</m:t>
                          </m:r>
                        </m:sub>
                      </m:sSub>
                      <m:sSub>
                        <m:sSubPr>
                          <m:ctrlPr>
                            <a:rPr lang="en-US" sz="4100" b="0" i="1" smtClean="0">
                              <a:latin typeface="Cambria Math" panose="02040503050406030204" pitchFamily="18" charset="0"/>
                            </a:rPr>
                          </m:ctrlPr>
                        </m:sSubPr>
                        <m:e>
                          <m:r>
                            <a:rPr lang="en-US" sz="4100" b="0" i="1" smtClean="0">
                              <a:latin typeface="Cambria Math" panose="02040503050406030204" pitchFamily="18" charset="0"/>
                            </a:rPr>
                            <m:t>𝑥</m:t>
                          </m:r>
                        </m:e>
                        <m:sub>
                          <m:r>
                            <a:rPr lang="en-US" sz="4100" b="0" i="1" smtClean="0">
                              <a:latin typeface="Cambria Math" panose="02040503050406030204" pitchFamily="18" charset="0"/>
                            </a:rPr>
                            <m:t>𝑖</m:t>
                          </m:r>
                        </m:sub>
                      </m:sSub>
                      <m:r>
                        <a:rPr lang="en-US" sz="4100" b="0" i="1" smtClean="0">
                          <a:latin typeface="Cambria Math" panose="02040503050406030204" pitchFamily="18" charset="0"/>
                        </a:rPr>
                        <m:t>+</m:t>
                      </m:r>
                      <m:sSub>
                        <m:sSubPr>
                          <m:ctrlPr>
                            <a:rPr lang="en-US" sz="4100" i="1">
                              <a:latin typeface="Cambria Math" panose="02040503050406030204" pitchFamily="18" charset="0"/>
                            </a:rPr>
                          </m:ctrlPr>
                        </m:sSubPr>
                        <m:e>
                          <m:r>
                            <a:rPr lang="en-US" sz="4100" b="0" i="1" smtClean="0">
                              <a:latin typeface="Cambria Math" panose="02040503050406030204" pitchFamily="18" charset="0"/>
                            </a:rPr>
                            <m:t>𝑏</m:t>
                          </m:r>
                        </m:e>
                        <m:sub>
                          <m:r>
                            <a:rPr lang="en-US" sz="4100" b="0" i="1" smtClean="0">
                              <a:latin typeface="Cambria Math" panose="02040503050406030204" pitchFamily="18" charset="0"/>
                            </a:rPr>
                            <m:t>0</m:t>
                          </m:r>
                        </m:sub>
                      </m:sSub>
                    </m:oMath>
                  </m:oMathPara>
                </a14:m>
                <a:endParaRPr lang="en-US" sz="4100" dirty="0"/>
              </a:p>
              <a:p>
                <a:pPr marL="0" indent="0">
                  <a:lnSpc>
                    <a:spcPct val="120000"/>
                  </a:lnSpc>
                  <a:buNone/>
                </a:pPr>
                <a14:m>
                  <m:oMath xmlns:m="http://schemas.openxmlformats.org/officeDocument/2006/math">
                    <m:r>
                      <a:rPr lang="en-US" sz="2400" b="1" i="1">
                        <a:latin typeface="Cambria Math" panose="02040503050406030204" pitchFamily="18" charset="0"/>
                      </a:rPr>
                      <m:t>𝒚</m:t>
                    </m:r>
                    <m:r>
                      <a:rPr lang="en-US" sz="2400" i="1">
                        <a:latin typeface="Cambria Math" panose="02040503050406030204" pitchFamily="18" charset="0"/>
                      </a:rPr>
                      <m:t> </m:t>
                    </m:r>
                  </m:oMath>
                </a14:m>
                <a:r>
                  <a:rPr lang="en-US" sz="2400" dirty="0"/>
                  <a:t>: outcome</a:t>
                </a:r>
              </a:p>
              <a:p>
                <a:pPr marL="0" indent="0">
                  <a:lnSpc>
                    <a:spcPct val="120000"/>
                  </a:lnSpc>
                  <a:buNone/>
                </a:pP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𝒙</m:t>
                        </m:r>
                      </m:e>
                      <m:sub>
                        <m:r>
                          <a:rPr lang="en-US" sz="2400" b="1" i="1" smtClean="0">
                            <a:latin typeface="Cambria Math" panose="02040503050406030204" pitchFamily="18" charset="0"/>
                          </a:rPr>
                          <m:t>𝟏</m:t>
                        </m:r>
                      </m:sub>
                    </m:sSub>
                    <m:r>
                      <a:rPr lang="en-US" sz="2400" b="1" i="1" smtClean="0">
                        <a:latin typeface="Cambria Math" panose="02040503050406030204" pitchFamily="18" charset="0"/>
                      </a:rPr>
                      <m:t>,</m:t>
                    </m:r>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𝒙</m:t>
                        </m:r>
                      </m:e>
                      <m:sub>
                        <m:r>
                          <a:rPr lang="en-US" sz="2400" b="1" i="1" smtClean="0">
                            <a:latin typeface="Cambria Math" panose="02040503050406030204" pitchFamily="18" charset="0"/>
                          </a:rPr>
                          <m:t>𝟐</m:t>
                        </m:r>
                      </m:sub>
                    </m:sSub>
                    <m:r>
                      <a:rPr lang="en-US" sz="2400" b="1" i="1" smtClean="0">
                        <a:latin typeface="Cambria Math" panose="02040503050406030204" pitchFamily="18" charset="0"/>
                      </a:rPr>
                      <m:t>, …</m:t>
                    </m:r>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𝒙</m:t>
                        </m:r>
                      </m:e>
                      <m:sub>
                        <m:r>
                          <a:rPr lang="en-US" sz="2400" b="1" i="1" smtClean="0">
                            <a:latin typeface="Cambria Math" panose="02040503050406030204" pitchFamily="18" charset="0"/>
                          </a:rPr>
                          <m:t>𝒊</m:t>
                        </m:r>
                      </m:sub>
                    </m:sSub>
                  </m:oMath>
                </a14:m>
                <a:r>
                  <a:rPr lang="en-US" sz="2400" dirty="0"/>
                  <a:t>: factor that may explain Y</a:t>
                </a:r>
              </a:p>
              <a:p>
                <a:pPr marL="0" indent="0">
                  <a:lnSpc>
                    <a:spcPct val="120000"/>
                  </a:lnSpc>
                  <a:buNone/>
                </a:pPr>
                <a14:m>
                  <m:oMath xmlns:m="http://schemas.openxmlformats.org/officeDocument/2006/math">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𝒌</m:t>
                        </m:r>
                      </m:e>
                      <m:sub>
                        <m:r>
                          <a:rPr lang="en-US" sz="2400" b="1" i="1">
                            <a:latin typeface="Cambria Math" panose="02040503050406030204" pitchFamily="18" charset="0"/>
                          </a:rPr>
                          <m:t>𝟏</m:t>
                        </m:r>
                      </m:sub>
                    </m:sSub>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𝒌</m:t>
                        </m:r>
                      </m:e>
                      <m:sub>
                        <m:r>
                          <a:rPr lang="en-US" sz="2400" b="1" i="1">
                            <a:latin typeface="Cambria Math" panose="02040503050406030204" pitchFamily="18" charset="0"/>
                          </a:rPr>
                          <m:t>𝟐</m:t>
                        </m:r>
                      </m:sub>
                    </m:sSub>
                    <m:r>
                      <a:rPr lang="en-US" sz="2400" b="1" i="1">
                        <a:latin typeface="Cambria Math" panose="02040503050406030204" pitchFamily="18" charset="0"/>
                      </a:rPr>
                      <m:t>, …</m:t>
                    </m:r>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𝒌</m:t>
                        </m:r>
                      </m:e>
                      <m:sub>
                        <m:r>
                          <a:rPr lang="en-US" sz="2400" b="1" i="1" smtClean="0">
                            <a:latin typeface="Cambria Math" panose="02040503050406030204" pitchFamily="18" charset="0"/>
                          </a:rPr>
                          <m:t>𝒏</m:t>
                        </m:r>
                      </m:sub>
                    </m:sSub>
                  </m:oMath>
                </a14:m>
                <a:r>
                  <a:rPr lang="en-US" sz="2400" dirty="0"/>
                  <a:t>: regression coefficients</a:t>
                </a:r>
              </a:p>
              <a:p>
                <a:pPr marL="0" indent="0">
                  <a:lnSpc>
                    <a:spcPct val="120000"/>
                  </a:lnSpc>
                  <a:buNone/>
                </a:pPr>
                <a14:m>
                  <m:oMathPara xmlns:m="http://schemas.openxmlformats.org/officeDocument/2006/math">
                    <m:oMathParaPr>
                      <m:jc m:val="left"/>
                    </m:oMathParaPr>
                    <m:oMath xmlns:m="http://schemas.openxmlformats.org/officeDocument/2006/math">
                      <m:sSub>
                        <m:sSubPr>
                          <m:ctrlPr>
                            <a:rPr lang="en-US" sz="2400" b="1" i="1">
                              <a:latin typeface="Cambria Math" panose="02040503050406030204" pitchFamily="18" charset="0"/>
                            </a:rPr>
                          </m:ctrlPr>
                        </m:sSubPr>
                        <m:e>
                          <m:r>
                            <a:rPr lang="en-US" sz="2400" b="1" i="1" smtClean="0">
                              <a:latin typeface="Cambria Math" panose="02040503050406030204" pitchFamily="18" charset="0"/>
                            </a:rPr>
                            <m:t>𝒃</m:t>
                          </m:r>
                        </m:e>
                        <m:sub>
                          <m:r>
                            <a:rPr lang="en-US" sz="2400" b="1" i="1" smtClean="0">
                              <a:latin typeface="Cambria Math" panose="02040503050406030204" pitchFamily="18" charset="0"/>
                            </a:rPr>
                            <m:t>𝟎</m:t>
                          </m:r>
                        </m:sub>
                      </m:sSub>
                      <m:r>
                        <a:rPr lang="en-US" sz="2400" b="0" i="1" smtClean="0">
                          <a:latin typeface="Cambria Math" panose="02040503050406030204" pitchFamily="18" charset="0"/>
                        </a:rPr>
                        <m:t>:</m:t>
                      </m:r>
                      <m:r>
                        <a:rPr lang="en-US" sz="2400" b="0" i="1" smtClean="0">
                          <a:latin typeface="Cambria Math" panose="02040503050406030204" pitchFamily="18" charset="0"/>
                        </a:rPr>
                        <m:t>𝑖𝑛𝑡𝑒𝑟𝑐𝑒𝑝𝑡</m:t>
                      </m:r>
                      <m:r>
                        <a:rPr lang="en-US" sz="2400" b="0" i="1" smtClean="0">
                          <a:latin typeface="Cambria Math" panose="02040503050406030204" pitchFamily="18" charset="0"/>
                        </a:rPr>
                        <m:t> (</m:t>
                      </m:r>
                      <m:r>
                        <a:rPr lang="en-US" sz="2400" b="0" i="1" smtClean="0">
                          <a:latin typeface="Cambria Math" panose="02040503050406030204" pitchFamily="18" charset="0"/>
                        </a:rPr>
                        <m:t>𝑏𝑎𝑠𝑒𝑙𝑖𝑛𝑒</m:t>
                      </m:r>
                      <m:r>
                        <a:rPr lang="en-US" sz="2400" b="0" i="1" smtClean="0">
                          <a:latin typeface="Cambria Math" panose="02040503050406030204" pitchFamily="18" charset="0"/>
                        </a:rPr>
                        <m:t> </m:t>
                      </m:r>
                      <m:r>
                        <a:rPr lang="en-US" sz="2400" b="0" i="1" smtClean="0">
                          <a:latin typeface="Cambria Math" panose="02040503050406030204" pitchFamily="18" charset="0"/>
                        </a:rPr>
                        <m:t>𝑣𝑎𝑙𝑢𝑒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𝑌</m:t>
                      </m:r>
                      <m:r>
                        <a:rPr lang="en-US" sz="2400" b="0" i="1" smtClean="0">
                          <a:latin typeface="Cambria Math" panose="02040503050406030204" pitchFamily="18" charset="0"/>
                        </a:rPr>
                        <m:t> </m:t>
                      </m:r>
                      <m:r>
                        <a:rPr lang="en-US" sz="2400" b="0" i="1" smtClean="0">
                          <a:latin typeface="Cambria Math" panose="02040503050406030204" pitchFamily="18" charset="0"/>
                        </a:rPr>
                        <m:t>𝑤h𝑒𝑛</m:t>
                      </m:r>
                      <m:r>
                        <a:rPr lang="en-US" sz="2400" b="0" i="1" smtClean="0">
                          <a:latin typeface="Cambria Math" panose="02040503050406030204" pitchFamily="18" charset="0"/>
                        </a:rPr>
                        <m:t> </m:t>
                      </m:r>
                      <m:r>
                        <a:rPr lang="en-US" sz="2400" b="0" i="1" smtClean="0">
                          <a:latin typeface="Cambria Math" panose="02040503050406030204" pitchFamily="18" charset="0"/>
                        </a:rPr>
                        <m:t>𝑎𝑙𝑙</m:t>
                      </m:r>
                      <m:r>
                        <a:rPr lang="en-US" sz="2400" b="0" i="1"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r>
                        <a:rPr lang="en-US" sz="2400" b="0" i="1" smtClean="0">
                          <a:latin typeface="Cambria Math" panose="02040503050406030204" pitchFamily="18" charset="0"/>
                        </a:rPr>
                        <m:t>=0)</m:t>
                      </m:r>
                    </m:oMath>
                  </m:oMathPara>
                </a14:m>
                <a:endParaRPr lang="en-US" sz="2400" dirty="0"/>
              </a:p>
              <a:p>
                <a:pPr marL="0" indent="0">
                  <a:buNone/>
                </a:pPr>
                <a:endParaRPr lang="en-US" sz="2400" dirty="0"/>
              </a:p>
              <a:p>
                <a:pPr marL="0" indent="0">
                  <a:buNone/>
                </a:pPr>
                <a:r>
                  <a:rPr lang="en-US" sz="2400" dirty="0"/>
                  <a:t>Expected crash counts = roadway exposure + demographic context</a:t>
                </a:r>
              </a:p>
            </p:txBody>
          </p:sp>
        </mc:Choice>
        <mc:Fallback xmlns="">
          <p:sp>
            <p:nvSpPr>
              <p:cNvPr id="3" name="Content Placeholder 2">
                <a:extLst>
                  <a:ext uri="{FF2B5EF4-FFF2-40B4-BE49-F238E27FC236}">
                    <a16:creationId xmlns:a16="http://schemas.microsoft.com/office/drawing/2014/main" id="{CDD5F047-1AC3-6145-4374-174788C68122}"/>
                  </a:ext>
                </a:extLst>
              </p:cNvPr>
              <p:cNvSpPr>
                <a:spLocks noGrp="1" noRot="1" noChangeAspect="1" noMove="1" noResize="1" noEditPoints="1" noAdjustHandles="1" noChangeArrowheads="1" noChangeShapeType="1" noTextEdit="1"/>
              </p:cNvSpPr>
              <p:nvPr>
                <p:ph idx="1"/>
              </p:nvPr>
            </p:nvSpPr>
            <p:spPr>
              <a:xfrm>
                <a:off x="1429407" y="2222196"/>
                <a:ext cx="9148013" cy="3889846"/>
              </a:xfrm>
              <a:blipFill>
                <a:blip r:embed="rId3"/>
                <a:stretch>
                  <a:fillRect l="-832" t="-1303" b="-97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69FD888-433C-E6B2-85AB-04A891ECF6F1}"/>
              </a:ext>
            </a:extLst>
          </p:cNvPr>
          <p:cNvSpPr>
            <a:spLocks noGrp="1"/>
          </p:cNvSpPr>
          <p:nvPr>
            <p:ph type="sldNum" sz="quarter" idx="12"/>
          </p:nvPr>
        </p:nvSpPr>
        <p:spPr>
          <a:xfrm>
            <a:off x="11762129" y="6492875"/>
            <a:ext cx="445913"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13</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C5F2FF22-09B4-2D1B-0860-9256585BE2C3}"/>
              </a:ext>
            </a:extLst>
          </p:cNvPr>
          <p:cNvPicPr>
            <a:picLocks noChangeAspect="1"/>
          </p:cNvPicPr>
          <p:nvPr/>
        </p:nvPicPr>
        <p:blipFill>
          <a:blip r:embed="rId4"/>
          <a:stretch>
            <a:fillRect/>
          </a:stretch>
        </p:blipFill>
        <p:spPr>
          <a:xfrm>
            <a:off x="10577421" y="298228"/>
            <a:ext cx="1177036" cy="725054"/>
          </a:xfrm>
          <a:prstGeom prst="rect">
            <a:avLst/>
          </a:prstGeom>
        </p:spPr>
      </p:pic>
    </p:spTree>
    <p:extLst>
      <p:ext uri="{BB962C8B-B14F-4D97-AF65-F5344CB8AC3E}">
        <p14:creationId xmlns:p14="http://schemas.microsoft.com/office/powerpoint/2010/main" val="1332099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D61584-08EB-D71D-2FBA-461D4221F84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B8E6C7-0F98-9C85-8BCF-070DE7C0E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01CB8B2-171E-2E7B-3245-4F641A2C6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66E322C-8F9F-041F-B497-AF9CF3FA9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CF60D-EA72-2FBA-6C0B-12C677F20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574F3F-4C0C-821D-5234-6E947577F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D9263F-1822-670E-CA38-14047A1FA5A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Modeling Strategy</a:t>
            </a:r>
            <a:r>
              <a:rPr lang="en-US" sz="4000">
                <a:solidFill>
                  <a:srgbClr val="FFFFFF"/>
                </a:solidFill>
                <a:effectLst/>
              </a:rPr>
              <a:t> </a:t>
            </a:r>
            <a:endParaRPr lang="en-US" sz="400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D27CA9-B095-2D6F-7E6F-4CA29409AAA1}"/>
                  </a:ext>
                </a:extLst>
              </p:cNvPr>
              <p:cNvSpPr>
                <a:spLocks noGrp="1"/>
              </p:cNvSpPr>
              <p:nvPr>
                <p:ph idx="1"/>
              </p:nvPr>
            </p:nvSpPr>
            <p:spPr>
              <a:xfrm>
                <a:off x="1371599" y="2318197"/>
                <a:ext cx="9724031" cy="3683358"/>
              </a:xfrm>
            </p:spPr>
            <p:txBody>
              <a:bodyPr anchor="ctr">
                <a:normAutofit fontScale="92500"/>
              </a:bodyPr>
              <a:lstStyle/>
              <a:p>
                <a:r>
                  <a:rPr lang="en-US" sz="2400" dirty="0"/>
                  <a:t>Negative Binomial regression is used because crash counts are count data and </a:t>
                </a:r>
                <a:r>
                  <a:rPr lang="en-US" sz="2400" dirty="0" err="1"/>
                  <a:t>overdispersed</a:t>
                </a:r>
                <a:r>
                  <a:rPr lang="en-US" sz="2400" dirty="0"/>
                  <a:t>.  </a:t>
                </a:r>
              </a:p>
              <a:p>
                <a:pPr lvl="1"/>
                <a:r>
                  <a:rPr lang="en-US" dirty="0"/>
                  <a:t>Variance / Mean = 7.62</a:t>
                </a:r>
              </a:p>
              <a:p>
                <a:r>
                  <a:rPr lang="en-US" sz="2400" b="1" dirty="0"/>
                  <a:t>Model 1 </a:t>
                </a:r>
                <a:r>
                  <a:rPr lang="en-US" sz="2400" dirty="0"/>
                  <a:t>includes roadway variables only.</a:t>
                </a:r>
              </a:p>
              <a:p>
                <a:pPr lvl="1"/>
                <a:r>
                  <a:rPr lang="en-US" sz="2000" dirty="0"/>
                  <a:t>Baseline model for roadway environment  </a:t>
                </a:r>
              </a:p>
              <a:p>
                <a:r>
                  <a:rPr lang="en-US" sz="2400" b="1" dirty="0"/>
                  <a:t>Model 2 </a:t>
                </a:r>
                <a:r>
                  <a:rPr lang="en-US" sz="2400" dirty="0"/>
                  <a:t>adds Black and Hispanic population shares.</a:t>
                </a:r>
              </a:p>
              <a:p>
                <a:pPr lvl="1"/>
                <a:r>
                  <a:rPr lang="en-US" sz="2000" dirty="0"/>
                  <a:t>Main model: best balance of interpretability, highest </a:t>
                </a:r>
                <a14:m>
                  <m:oMath xmlns:m="http://schemas.openxmlformats.org/officeDocument/2006/math">
                    <m:sSup>
                      <m:sSupPr>
                        <m:ctrlPr>
                          <a:rPr lang="en-US" sz="2000" i="1">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oMath>
                </a14:m>
                <a:r>
                  <a:rPr lang="en-US" sz="2000" dirty="0"/>
                  <a:t>, and project objective</a:t>
                </a:r>
              </a:p>
              <a:p>
                <a:r>
                  <a:rPr lang="en-US" sz="2400" b="1" dirty="0"/>
                  <a:t>Model 3 </a:t>
                </a:r>
                <a:r>
                  <a:rPr lang="en-US" sz="2400" dirty="0"/>
                  <a:t>tests interactions between roadway exposure and Black / Hispanic population share.</a:t>
                </a:r>
              </a:p>
              <a:p>
                <a:pPr lvl="1"/>
                <a:r>
                  <a:rPr lang="en-US" sz="2000" dirty="0"/>
                  <a:t>Robustness / extension model; interaction terms were not </a:t>
                </a:r>
                <a:r>
                  <a:rPr lang="en-US" sz="2000"/>
                  <a:t>statistically significant.</a:t>
                </a:r>
                <a:endParaRPr lang="en-US" sz="2000" dirty="0"/>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3AD27CA9-B095-2D6F-7E6F-4CA29409AAA1}"/>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3"/>
                <a:stretch>
                  <a:fillRect l="-783" t="-687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A7005C3-007D-1D78-A905-21B6851F5FD1}"/>
              </a:ext>
            </a:extLst>
          </p:cNvPr>
          <p:cNvSpPr>
            <a:spLocks noGrp="1"/>
          </p:cNvSpPr>
          <p:nvPr>
            <p:ph type="sldNum" sz="quarter" idx="12"/>
          </p:nvPr>
        </p:nvSpPr>
        <p:spPr>
          <a:xfrm>
            <a:off x="11704320" y="6455431"/>
            <a:ext cx="445913"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7C2A0D0E-196F-9215-1025-BD23891FAACE}"/>
              </a:ext>
            </a:extLst>
          </p:cNvPr>
          <p:cNvPicPr>
            <a:picLocks noChangeAspect="1"/>
          </p:cNvPicPr>
          <p:nvPr/>
        </p:nvPicPr>
        <p:blipFill>
          <a:blip r:embed="rId4"/>
          <a:stretch>
            <a:fillRect/>
          </a:stretch>
        </p:blipFill>
        <p:spPr>
          <a:xfrm>
            <a:off x="10519612" y="260784"/>
            <a:ext cx="1177036" cy="725054"/>
          </a:xfrm>
          <a:prstGeom prst="rect">
            <a:avLst/>
          </a:prstGeom>
        </p:spPr>
      </p:pic>
    </p:spTree>
    <p:extLst>
      <p:ext uri="{BB962C8B-B14F-4D97-AF65-F5344CB8AC3E}">
        <p14:creationId xmlns:p14="http://schemas.microsoft.com/office/powerpoint/2010/main" val="3874904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4496E1-5B2F-7E16-9D1F-C2BF2FBC20E2}"/>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B67A86-49D2-7348-687D-109F68EFC6C8}"/>
              </a:ext>
            </a:extLst>
          </p:cNvPr>
          <p:cNvSpPr>
            <a:spLocks noGrp="1"/>
          </p:cNvSpPr>
          <p:nvPr>
            <p:ph type="title"/>
          </p:nvPr>
        </p:nvSpPr>
        <p:spPr>
          <a:xfrm>
            <a:off x="1136397" y="502021"/>
            <a:ext cx="4959603" cy="1642969"/>
          </a:xfrm>
        </p:spPr>
        <p:txBody>
          <a:bodyPr anchor="b">
            <a:normAutofit/>
          </a:bodyPr>
          <a:lstStyle/>
          <a:p>
            <a:r>
              <a:rPr lang="en-US" sz="4000"/>
              <a:t>Regression Results and Interpretation</a:t>
            </a:r>
          </a:p>
        </p:txBody>
      </p:sp>
      <p:sp>
        <p:nvSpPr>
          <p:cNvPr id="25" name="Content Placeholder 10">
            <a:extLst>
              <a:ext uri="{FF2B5EF4-FFF2-40B4-BE49-F238E27FC236}">
                <a16:creationId xmlns:a16="http://schemas.microsoft.com/office/drawing/2014/main" id="{7B6360F1-D669-AF0C-3D34-7F7AF2CDFE80}"/>
              </a:ext>
            </a:extLst>
          </p:cNvPr>
          <p:cNvSpPr>
            <a:spLocks noGrp="1"/>
          </p:cNvSpPr>
          <p:nvPr>
            <p:ph idx="1"/>
          </p:nvPr>
        </p:nvSpPr>
        <p:spPr>
          <a:xfrm>
            <a:off x="1136397" y="2418408"/>
            <a:ext cx="4959603" cy="3522569"/>
          </a:xfrm>
        </p:spPr>
        <p:txBody>
          <a:bodyPr anchor="t">
            <a:normAutofit/>
          </a:bodyPr>
          <a:lstStyle/>
          <a:p>
            <a:pPr marL="0" indent="0">
              <a:buNone/>
            </a:pPr>
            <a:r>
              <a:rPr lang="en-US" sz="2000"/>
              <a:t>The model can be interpreted conceptually as:</a:t>
            </a:r>
          </a:p>
          <a:p>
            <a:pPr marL="0" indent="0">
              <a:buNone/>
            </a:pPr>
            <a:r>
              <a:rPr lang="en-US" sz="2000"/>
              <a:t>log(expected total_crashes)</a:t>
            </a:r>
          </a:p>
          <a:p>
            <a:pPr marL="0" indent="0">
              <a:buNone/>
            </a:pPr>
            <a:r>
              <a:rPr lang="en-US" sz="2000"/>
              <a:t>= </a:t>
            </a:r>
            <a:r>
              <a:rPr lang="el-GR" sz="2000"/>
              <a:t>β0</a:t>
            </a:r>
          </a:p>
          <a:p>
            <a:pPr marL="0" indent="0">
              <a:buNone/>
            </a:pPr>
            <a:r>
              <a:rPr lang="el-GR" sz="2000"/>
              <a:t>+ 0.0313 × </a:t>
            </a:r>
            <a:r>
              <a:rPr lang="en-US" sz="2000"/>
              <a:t>road_density_km_per_km2</a:t>
            </a:r>
          </a:p>
          <a:p>
            <a:pPr marL="0" indent="0">
              <a:buNone/>
            </a:pPr>
            <a:r>
              <a:rPr lang="en-US" sz="2000"/>
              <a:t>+ 0.1412 × signal_density_km2</a:t>
            </a:r>
          </a:p>
          <a:p>
            <a:pPr marL="0" indent="0">
              <a:buNone/>
            </a:pPr>
            <a:r>
              <a:rPr lang="en-US" sz="2000"/>
              <a:t>+ 1.0493 × black_alone_share</a:t>
            </a:r>
          </a:p>
          <a:p>
            <a:pPr marL="0" indent="0">
              <a:buNone/>
            </a:pPr>
            <a:r>
              <a:rPr lang="en-US" sz="2000"/>
              <a:t>+ other control variables</a:t>
            </a:r>
          </a:p>
          <a:p>
            <a:pPr marL="0" indent="0">
              <a:buNone/>
            </a:pPr>
            <a:r>
              <a:rPr lang="en-US" sz="2000"/>
              <a:t>+ log_exposure_offset</a:t>
            </a:r>
          </a:p>
        </p:txBody>
      </p:sp>
      <p:pic>
        <p:nvPicPr>
          <p:cNvPr id="22" name="Content Placeholder 8">
            <a:extLst>
              <a:ext uri="{FF2B5EF4-FFF2-40B4-BE49-F238E27FC236}">
                <a16:creationId xmlns:a16="http://schemas.microsoft.com/office/drawing/2014/main" id="{D0BF1B46-7F81-54B8-4952-2D678532BFF7}"/>
              </a:ext>
            </a:extLst>
          </p:cNvPr>
          <p:cNvPicPr>
            <a:picLocks noChangeAspect="1"/>
          </p:cNvPicPr>
          <p:nvPr/>
        </p:nvPicPr>
        <p:blipFill>
          <a:blip r:embed="rId3"/>
          <a:stretch>
            <a:fillRect/>
          </a:stretch>
        </p:blipFill>
        <p:spPr>
          <a:xfrm>
            <a:off x="6512442" y="1752833"/>
            <a:ext cx="5201023" cy="2938577"/>
          </a:xfrm>
          <a:prstGeom prst="rect">
            <a:avLst/>
          </a:prstGeom>
        </p:spPr>
      </p:pic>
      <p:sp>
        <p:nvSpPr>
          <p:cNvPr id="41" name="Rectangle 4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8FE19981-8EDA-09F3-4FD1-547DD2A58D0A}"/>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rgbClr val="FFFFFF"/>
                </a:solidFill>
              </a:rPr>
              <a:pPr>
                <a:spcAft>
                  <a:spcPts val="600"/>
                </a:spcAft>
              </a:pPr>
              <a:t>15</a:t>
            </a:fld>
            <a:endParaRPr lang="en-US" sz="1100">
              <a:solidFill>
                <a:srgbClr val="FFFFFF"/>
              </a:solidFill>
            </a:endParaRPr>
          </a:p>
        </p:txBody>
      </p:sp>
      <p:pic>
        <p:nvPicPr>
          <p:cNvPr id="4" name="Picture 3" descr="Verify Licensed Insurers | disb">
            <a:extLst>
              <a:ext uri="{FF2B5EF4-FFF2-40B4-BE49-F238E27FC236}">
                <a16:creationId xmlns:a16="http://schemas.microsoft.com/office/drawing/2014/main" id="{B5AD5602-FC67-5A99-4BB6-99C5E90AF6A5}"/>
              </a:ext>
            </a:extLst>
          </p:cNvPr>
          <p:cNvPicPr>
            <a:picLocks noChangeAspect="1"/>
          </p:cNvPicPr>
          <p:nvPr/>
        </p:nvPicPr>
        <p:blipFill>
          <a:blip r:embed="rId4"/>
          <a:stretch>
            <a:fillRect/>
          </a:stretch>
        </p:blipFill>
        <p:spPr>
          <a:xfrm>
            <a:off x="10519612" y="260784"/>
            <a:ext cx="1177036" cy="725054"/>
          </a:xfrm>
          <a:prstGeom prst="rect">
            <a:avLst/>
          </a:prstGeom>
        </p:spPr>
      </p:pic>
    </p:spTree>
    <p:extLst>
      <p:ext uri="{BB962C8B-B14F-4D97-AF65-F5344CB8AC3E}">
        <p14:creationId xmlns:p14="http://schemas.microsoft.com/office/powerpoint/2010/main" val="1073688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24568DB-A103-15AE-0DF6-EDA72FBB38B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9E73B-E1E6-71CA-442C-F6CEF0134BC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Diagnostics / Robustness Checks</a:t>
            </a:r>
          </a:p>
        </p:txBody>
      </p:sp>
      <p:sp>
        <p:nvSpPr>
          <p:cNvPr id="5" name="Slide Number Placeholder 4">
            <a:extLst>
              <a:ext uri="{FF2B5EF4-FFF2-40B4-BE49-F238E27FC236}">
                <a16:creationId xmlns:a16="http://schemas.microsoft.com/office/drawing/2014/main" id="{54F8DF3E-E545-7364-E0D4-F58E2DCEBED5}"/>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A9D2C1E4-55B0-5F5D-558B-5C0446A24AB1}"/>
              </a:ext>
            </a:extLst>
          </p:cNvPr>
          <p:cNvPicPr>
            <a:picLocks noChangeAspect="1"/>
          </p:cNvPicPr>
          <p:nvPr/>
        </p:nvPicPr>
        <p:blipFill>
          <a:blip r:embed="rId3"/>
          <a:stretch>
            <a:fillRect/>
          </a:stretch>
        </p:blipFill>
        <p:spPr>
          <a:xfrm>
            <a:off x="10519612" y="260784"/>
            <a:ext cx="1177036" cy="725054"/>
          </a:xfrm>
          <a:prstGeom prst="rect">
            <a:avLst/>
          </a:prstGeom>
        </p:spPr>
      </p:pic>
      <p:graphicFrame>
        <p:nvGraphicFramePr>
          <p:cNvPr id="20" name="Content Placeholder 2">
            <a:extLst>
              <a:ext uri="{FF2B5EF4-FFF2-40B4-BE49-F238E27FC236}">
                <a16:creationId xmlns:a16="http://schemas.microsoft.com/office/drawing/2014/main" id="{5228C365-B98B-A565-3139-C31092D83A59}"/>
              </a:ext>
            </a:extLst>
          </p:cNvPr>
          <p:cNvGraphicFramePr>
            <a:graphicFrameLocks noGrp="1"/>
          </p:cNvGraphicFramePr>
          <p:nvPr>
            <p:ph idx="1"/>
            <p:extLst>
              <p:ext uri="{D42A27DB-BD31-4B8C-83A1-F6EECF244321}">
                <p14:modId xmlns:p14="http://schemas.microsoft.com/office/powerpoint/2010/main" val="151130371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57625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859388-531C-DDF3-7A2B-38C420336F09}"/>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 name="Rectangle 5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4" name="Rectangle 5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FB30A-AE28-E212-88F1-35099D49AAC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Limitations and Final Takeaway</a:t>
            </a:r>
            <a:r>
              <a:rPr lang="en-US" sz="4000" dirty="0">
                <a:solidFill>
                  <a:srgbClr val="FFFFFF"/>
                </a:solidFill>
                <a:effectLst/>
              </a:rPr>
              <a:t> </a:t>
            </a:r>
            <a:endParaRPr lang="en-US" sz="4000" dirty="0">
              <a:solidFill>
                <a:srgbClr val="FFFFFF"/>
              </a:solidFill>
            </a:endParaRPr>
          </a:p>
        </p:txBody>
      </p:sp>
      <p:sp>
        <p:nvSpPr>
          <p:cNvPr id="3" name="Content Placeholder 2">
            <a:extLst>
              <a:ext uri="{FF2B5EF4-FFF2-40B4-BE49-F238E27FC236}">
                <a16:creationId xmlns:a16="http://schemas.microsoft.com/office/drawing/2014/main" id="{B287F021-FF4E-3178-FA67-0DD66C9DF809}"/>
              </a:ext>
            </a:extLst>
          </p:cNvPr>
          <p:cNvSpPr>
            <a:spLocks noGrp="1"/>
          </p:cNvSpPr>
          <p:nvPr>
            <p:ph idx="1"/>
          </p:nvPr>
        </p:nvSpPr>
        <p:spPr>
          <a:xfrm>
            <a:off x="4810259" y="649480"/>
            <a:ext cx="6555347" cy="5546047"/>
          </a:xfrm>
        </p:spPr>
        <p:txBody>
          <a:bodyPr anchor="ctr">
            <a:normAutofit/>
          </a:bodyPr>
          <a:lstStyle/>
          <a:p>
            <a:r>
              <a:rPr lang="en-US" sz="1600" dirty="0"/>
              <a:t>This is a tract-level association study, not a causal analysis.</a:t>
            </a:r>
          </a:p>
          <a:p>
            <a:r>
              <a:rPr lang="en-US" sz="1600" dirty="0"/>
              <a:t>Crash data is used as a proxy for insurance claim-risk exposure, not actual insurance claims.</a:t>
            </a:r>
          </a:p>
          <a:p>
            <a:r>
              <a:rPr lang="en-US" sz="1600" b="1" dirty="0"/>
              <a:t>Expected balanced panel</a:t>
            </a:r>
            <a:r>
              <a:rPr lang="en-US" sz="1600" dirty="0"/>
              <a:t>: 206 tracts × 60 months</a:t>
            </a:r>
          </a:p>
          <a:p>
            <a:r>
              <a:rPr lang="en-US" sz="1600" dirty="0"/>
              <a:t>Some expected tract-month combinations are missing and were treated as zero-crash months; this assumption should be confirmed with  </a:t>
            </a:r>
            <a:r>
              <a:rPr lang="en-US" sz="1600" b="1" dirty="0"/>
              <a:t>DDOT</a:t>
            </a:r>
            <a:r>
              <a:rPr lang="en-US" sz="1600" dirty="0"/>
              <a:t> or </a:t>
            </a:r>
            <a:r>
              <a:rPr lang="en-US" sz="1600" b="1" dirty="0"/>
              <a:t>MPD</a:t>
            </a:r>
            <a:r>
              <a:rPr lang="en-US" sz="1600" dirty="0"/>
              <a:t>.</a:t>
            </a:r>
          </a:p>
          <a:p>
            <a:r>
              <a:rPr lang="en-US" sz="1600" dirty="0"/>
              <a:t>Roadway and demographic variables are mostly static, synthetic, and modeled at the tract level, while crash counts vary monthly.</a:t>
            </a:r>
          </a:p>
          <a:p>
            <a:r>
              <a:rPr lang="en-US" sz="1600" dirty="0"/>
              <a:t>Results should not be interpreted as individual-level risk differences.</a:t>
            </a:r>
          </a:p>
          <a:p>
            <a:r>
              <a:rPr lang="en-US" sz="1600" b="1" dirty="0"/>
              <a:t>Final takeaway</a:t>
            </a:r>
            <a:r>
              <a:rPr lang="en-US" sz="1600" dirty="0"/>
              <a:t>: Roadway exposure matters, and higher Black-share tracts show higher expected crash counts after controls. However, the model does not provide strong evidence that roadway exposure has an additional amplified effect by Black or Hispanic population share.</a:t>
            </a:r>
            <a:r>
              <a:rPr lang="en-US" sz="1600" dirty="0">
                <a:effectLst/>
              </a:rPr>
              <a:t> </a:t>
            </a:r>
            <a:endParaRPr lang="en-US" sz="1600" dirty="0"/>
          </a:p>
        </p:txBody>
      </p:sp>
      <p:sp>
        <p:nvSpPr>
          <p:cNvPr id="5" name="Slide Number Placeholder 4">
            <a:extLst>
              <a:ext uri="{FF2B5EF4-FFF2-40B4-BE49-F238E27FC236}">
                <a16:creationId xmlns:a16="http://schemas.microsoft.com/office/drawing/2014/main" id="{F843809E-180B-CBCF-300B-D7C2869F3186}"/>
              </a:ext>
            </a:extLst>
          </p:cNvPr>
          <p:cNvSpPr>
            <a:spLocks noGrp="1"/>
          </p:cNvSpPr>
          <p:nvPr>
            <p:ph type="sldNum" sz="quarter" idx="12"/>
          </p:nvPr>
        </p:nvSpPr>
        <p:spPr>
          <a:xfrm>
            <a:off x="11704320" y="6455664"/>
            <a:ext cx="448056" cy="365125"/>
          </a:xfrm>
        </p:spPr>
        <p:txBody>
          <a:bodyPr>
            <a:normAutofit/>
          </a:bodyPr>
          <a:lstStyle/>
          <a:p>
            <a:pPr>
              <a:spcAft>
                <a:spcPts val="600"/>
              </a:spcAft>
            </a:pPr>
            <a:fld id="{C9E9CA6D-21B0-DC40-B670-34B7FF5C511E}" type="slidenum">
              <a:rPr lang="en-US" sz="1100" smtClean="0">
                <a:solidFill>
                  <a:schemeClr val="tx1">
                    <a:lumMod val="50000"/>
                    <a:lumOff val="50000"/>
                  </a:schemeClr>
                </a:solidFill>
              </a:rPr>
              <a:pPr>
                <a:spcAft>
                  <a:spcPts val="600"/>
                </a:spcAft>
              </a:pPr>
              <a:t>17</a:t>
            </a:fld>
            <a:endParaRPr lang="en-US" sz="1100">
              <a:solidFill>
                <a:schemeClr val="tx1">
                  <a:lumMod val="50000"/>
                  <a:lumOff val="50000"/>
                </a:schemeClr>
              </a:solidFill>
            </a:endParaRPr>
          </a:p>
        </p:txBody>
      </p:sp>
      <p:pic>
        <p:nvPicPr>
          <p:cNvPr id="4" name="Picture 3" descr="Verify Licensed Insurers | disb">
            <a:extLst>
              <a:ext uri="{FF2B5EF4-FFF2-40B4-BE49-F238E27FC236}">
                <a16:creationId xmlns:a16="http://schemas.microsoft.com/office/drawing/2014/main" id="{646AA992-DA6B-AC99-BFF8-8568B1B7C08A}"/>
              </a:ext>
            </a:extLst>
          </p:cNvPr>
          <p:cNvPicPr>
            <a:picLocks noChangeAspect="1"/>
          </p:cNvPicPr>
          <p:nvPr/>
        </p:nvPicPr>
        <p:blipFill>
          <a:blip r:embed="rId3"/>
          <a:stretch>
            <a:fillRect/>
          </a:stretch>
        </p:blipFill>
        <p:spPr>
          <a:xfrm>
            <a:off x="486304" y="5617144"/>
            <a:ext cx="1177036" cy="725054"/>
          </a:xfrm>
          <a:prstGeom prst="rect">
            <a:avLst/>
          </a:prstGeom>
        </p:spPr>
      </p:pic>
    </p:spTree>
    <p:extLst>
      <p:ext uri="{BB962C8B-B14F-4D97-AF65-F5344CB8AC3E}">
        <p14:creationId xmlns:p14="http://schemas.microsoft.com/office/powerpoint/2010/main" val="1460709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9FFC88-3812-3C2B-2E93-B950AC91840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8730D6-6852-E9FD-EBFA-1B3058A93DBC}"/>
              </a:ext>
            </a:extLst>
          </p:cNvPr>
          <p:cNvSpPr>
            <a:spLocks noGrp="1"/>
          </p:cNvSpPr>
          <p:nvPr>
            <p:ph type="title"/>
          </p:nvPr>
        </p:nvSpPr>
        <p:spPr>
          <a:xfrm>
            <a:off x="6094105" y="802955"/>
            <a:ext cx="4977976" cy="1454051"/>
          </a:xfrm>
        </p:spPr>
        <p:txBody>
          <a:bodyPr>
            <a:normAutofit/>
          </a:bodyPr>
          <a:lstStyle/>
          <a:p>
            <a:r>
              <a:rPr lang="en-US" sz="3600" b="1">
                <a:solidFill>
                  <a:schemeClr val="tx2"/>
                </a:solidFill>
              </a:rPr>
              <a:t>Next Step: Add Land Use / Zoning Context</a:t>
            </a:r>
          </a:p>
        </p:txBody>
      </p:sp>
      <p:pic>
        <p:nvPicPr>
          <p:cNvPr id="22" name="Graphic 21" descr="Car">
            <a:extLst>
              <a:ext uri="{FF2B5EF4-FFF2-40B4-BE49-F238E27FC236}">
                <a16:creationId xmlns:a16="http://schemas.microsoft.com/office/drawing/2014/main" id="{8FAD4333-E039-6B26-E21D-EA9A133FA2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07403E0C-6DF0-ECCB-0F0B-D1FA120CDEAF}"/>
              </a:ext>
            </a:extLst>
          </p:cNvPr>
          <p:cNvSpPr>
            <a:spLocks noGrp="1"/>
          </p:cNvSpPr>
          <p:nvPr>
            <p:ph idx="1"/>
          </p:nvPr>
        </p:nvSpPr>
        <p:spPr>
          <a:xfrm>
            <a:off x="6090574" y="2421682"/>
            <a:ext cx="4977578" cy="3639289"/>
          </a:xfrm>
        </p:spPr>
        <p:txBody>
          <a:bodyPr anchor="ctr">
            <a:normAutofit/>
          </a:bodyPr>
          <a:lstStyle/>
          <a:p>
            <a:r>
              <a:rPr lang="en-US" sz="1800">
                <a:solidFill>
                  <a:schemeClr val="tx2"/>
                </a:solidFill>
              </a:rPr>
              <a:t>Current Model</a:t>
            </a:r>
            <a:br>
              <a:rPr lang="en-US" sz="1800">
                <a:solidFill>
                  <a:schemeClr val="tx2"/>
                </a:solidFill>
              </a:rPr>
            </a:br>
            <a:r>
              <a:rPr lang="en-US" sz="1800">
                <a:solidFill>
                  <a:schemeClr val="tx2"/>
                </a:solidFill>
              </a:rPr>
              <a:t>Roadway exposure + demographic context</a:t>
            </a:r>
            <a:br>
              <a:rPr lang="en-US" sz="1800">
                <a:solidFill>
                  <a:schemeClr val="tx2"/>
                </a:solidFill>
              </a:rPr>
            </a:br>
            <a:r>
              <a:rPr lang="en-US" sz="1800">
                <a:solidFill>
                  <a:schemeClr val="tx2"/>
                </a:solidFill>
              </a:rPr>
              <a:t>→ expected crash counts</a:t>
            </a:r>
          </a:p>
          <a:p>
            <a:r>
              <a:rPr lang="en-US" sz="1800">
                <a:solidFill>
                  <a:schemeClr val="tx2"/>
                </a:solidFill>
              </a:rPr>
              <a:t>Add Context</a:t>
            </a:r>
            <a:br>
              <a:rPr lang="en-US" sz="1800">
                <a:solidFill>
                  <a:schemeClr val="tx2"/>
                </a:solidFill>
              </a:rPr>
            </a:br>
            <a:r>
              <a:rPr lang="en-US" sz="1800">
                <a:solidFill>
                  <a:schemeClr val="tx2"/>
                </a:solidFill>
              </a:rPr>
              <a:t>Land use + zoning + activity centers</a:t>
            </a:r>
            <a:br>
              <a:rPr lang="en-US" sz="1800">
                <a:solidFill>
                  <a:schemeClr val="tx2"/>
                </a:solidFill>
              </a:rPr>
            </a:br>
            <a:r>
              <a:rPr lang="en-US" sz="1800">
                <a:solidFill>
                  <a:schemeClr val="tx2"/>
                </a:solidFill>
              </a:rPr>
              <a:t>→ traffic activity patterns</a:t>
            </a:r>
          </a:p>
          <a:p>
            <a:r>
              <a:rPr lang="en-US" sz="1800">
                <a:solidFill>
                  <a:schemeClr val="tx2"/>
                </a:solidFill>
              </a:rPr>
              <a:t>Improved Interpretation</a:t>
            </a:r>
            <a:br>
              <a:rPr lang="en-US" sz="1800">
                <a:solidFill>
                  <a:schemeClr val="tx2"/>
                </a:solidFill>
              </a:rPr>
            </a:br>
            <a:r>
              <a:rPr lang="en-US" sz="1800">
                <a:solidFill>
                  <a:schemeClr val="tx2"/>
                </a:solidFill>
              </a:rPr>
              <a:t>Better separate roadway infrastructure effects</a:t>
            </a:r>
            <a:br>
              <a:rPr lang="en-US" sz="1800">
                <a:solidFill>
                  <a:schemeClr val="tx2"/>
                </a:solidFill>
              </a:rPr>
            </a:br>
            <a:r>
              <a:rPr lang="en-US" sz="1800">
                <a:solidFill>
                  <a:schemeClr val="tx2"/>
                </a:solidFill>
              </a:rPr>
              <a:t>from broader urban activity patterns</a:t>
            </a:r>
          </a:p>
        </p:txBody>
      </p:sp>
      <p:grpSp>
        <p:nvGrpSpPr>
          <p:cNvPr id="29" name="Group 28">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30" name="Freeform: Shape 29">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08C22BAA-8BEA-27FC-7436-D6730E4B5497}"/>
              </a:ext>
            </a:extLst>
          </p:cNvPr>
          <p:cNvSpPr>
            <a:spLocks noGrp="1"/>
          </p:cNvSpPr>
          <p:nvPr>
            <p:ph type="sldNum" sz="quarter" idx="12"/>
          </p:nvPr>
        </p:nvSpPr>
        <p:spPr>
          <a:xfrm>
            <a:off x="8610600" y="6356350"/>
            <a:ext cx="2743200" cy="365125"/>
          </a:xfrm>
        </p:spPr>
        <p:txBody>
          <a:bodyPr>
            <a:normAutofit/>
          </a:bodyPr>
          <a:lstStyle/>
          <a:p>
            <a:pPr>
              <a:spcAft>
                <a:spcPts val="600"/>
              </a:spcAft>
            </a:pPr>
            <a:fld id="{C9E9CA6D-21B0-DC40-B670-34B7FF5C511E}" type="slidenum">
              <a:rPr lang="en-US"/>
              <a:pPr>
                <a:spcAft>
                  <a:spcPts val="600"/>
                </a:spcAft>
              </a:pPr>
              <a:t>18</a:t>
            </a:fld>
            <a:endParaRPr lang="en-US"/>
          </a:p>
        </p:txBody>
      </p:sp>
      <p:pic>
        <p:nvPicPr>
          <p:cNvPr id="4" name="Picture 3" descr="Verify Licensed Insurers | disb">
            <a:extLst>
              <a:ext uri="{FF2B5EF4-FFF2-40B4-BE49-F238E27FC236}">
                <a16:creationId xmlns:a16="http://schemas.microsoft.com/office/drawing/2014/main" id="{27122FFF-371D-BAB9-15D6-22FD781C76DA}"/>
              </a:ext>
            </a:extLst>
          </p:cNvPr>
          <p:cNvPicPr>
            <a:picLocks noChangeAspect="1"/>
          </p:cNvPicPr>
          <p:nvPr/>
        </p:nvPicPr>
        <p:blipFill>
          <a:blip r:embed="rId4"/>
          <a:stretch>
            <a:fillRect/>
          </a:stretch>
        </p:blipFill>
        <p:spPr>
          <a:xfrm>
            <a:off x="10519612" y="260784"/>
            <a:ext cx="1177036" cy="725054"/>
          </a:xfrm>
          <a:prstGeom prst="rect">
            <a:avLst/>
          </a:prstGeom>
        </p:spPr>
      </p:pic>
    </p:spTree>
    <p:extLst>
      <p:ext uri="{BB962C8B-B14F-4D97-AF65-F5344CB8AC3E}">
        <p14:creationId xmlns:p14="http://schemas.microsoft.com/office/powerpoint/2010/main" val="1846093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C75256-B365-D428-9BB2-56A1AD90B12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09964E-149E-B583-AC09-D847C7183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08A617-D526-43E8-1BAC-A29C02805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F716365-0F83-89B8-429D-6D4851A8A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A30691C-478B-F840-D3C4-F3816E4BD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ED9CC-0520-1E82-3ACA-DCA32039AC4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Thank You</a:t>
            </a:r>
          </a:p>
        </p:txBody>
      </p:sp>
      <p:pic>
        <p:nvPicPr>
          <p:cNvPr id="8" name="Graphic 7" descr="Accept">
            <a:extLst>
              <a:ext uri="{FF2B5EF4-FFF2-40B4-BE49-F238E27FC236}">
                <a16:creationId xmlns:a16="http://schemas.microsoft.com/office/drawing/2014/main" id="{FF1B3002-E329-CA23-79AE-BED0C871AC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69919" y="1966293"/>
            <a:ext cx="4452160" cy="4452160"/>
          </a:xfrm>
          <a:prstGeom prst="rect">
            <a:avLst/>
          </a:prstGeom>
        </p:spPr>
      </p:pic>
      <p:sp>
        <p:nvSpPr>
          <p:cNvPr id="4" name="Slide Number Placeholder 3">
            <a:extLst>
              <a:ext uri="{FF2B5EF4-FFF2-40B4-BE49-F238E27FC236}">
                <a16:creationId xmlns:a16="http://schemas.microsoft.com/office/drawing/2014/main" id="{B6560182-A470-7C8F-0B13-3248A198F001}"/>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C9E9CA6D-21B0-DC40-B670-34B7FF5C511E}" type="slidenum">
              <a:rPr lang="en-US" sz="110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spTree>
    <p:extLst>
      <p:ext uri="{BB962C8B-B14F-4D97-AF65-F5344CB8AC3E}">
        <p14:creationId xmlns:p14="http://schemas.microsoft.com/office/powerpoint/2010/main" val="1028104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TotalTime>
  <Words>3124</Words>
  <Application>Microsoft Macintosh PowerPoint</Application>
  <PresentationFormat>Widescreen</PresentationFormat>
  <Paragraphs>272</Paragraphs>
  <Slides>19</Slides>
  <Notes>18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Cambria Math</vt:lpstr>
      <vt:lpstr>Office Theme</vt:lpstr>
      <vt:lpstr>Beyond Premium Gaps: Roadway Exposure, Crash Concentration, and Spatial Equity in DC Auto Insurance </vt:lpstr>
      <vt:lpstr>Project Objective</vt:lpstr>
      <vt:lpstr>Connection to Auto Insurance Bias Context </vt:lpstr>
      <vt:lpstr>Executive Summary</vt:lpstr>
      <vt:lpstr>Data Sources</vt:lpstr>
      <vt:lpstr>Why Tract-Month Level?</vt:lpstr>
      <vt:lpstr>Why Density Measures?</vt:lpstr>
      <vt:lpstr>Feature Engineering and Variable Selection</vt:lpstr>
      <vt:lpstr>EDA 1: Crash Concentration Pattern</vt:lpstr>
      <vt:lpstr>PowerPoint Presentation</vt:lpstr>
      <vt:lpstr>EDA 3: Demographic Spatial Context </vt:lpstr>
      <vt:lpstr>PowerPoint Presentation</vt:lpstr>
      <vt:lpstr>Why Regression Modeling?</vt:lpstr>
      <vt:lpstr>Modeling Strategy </vt:lpstr>
      <vt:lpstr>Regression Results and Interpretation</vt:lpstr>
      <vt:lpstr>Diagnostics / Robustness Checks</vt:lpstr>
      <vt:lpstr>Limitations and Final Takeaway </vt:lpstr>
      <vt:lpstr>Next Step: Add Land Use / Zoning Context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Qinghao (DISB)</dc:creator>
  <cp:lastModifiedBy>Chen, Qinghao (DISB)</cp:lastModifiedBy>
  <cp:revision>11</cp:revision>
  <dcterms:created xsi:type="dcterms:W3CDTF">2026-06-08T01:42:10Z</dcterms:created>
  <dcterms:modified xsi:type="dcterms:W3CDTF">2026-06-29T00:43:41Z</dcterms:modified>
</cp:coreProperties>
</file>